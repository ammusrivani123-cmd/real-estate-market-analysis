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2CEAA1-9059-4ABF-8EA6-C77EA7114BFB}" v="9" dt="2026-10-10T20:09:44.10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8" d="100"/>
          <a:sy n="98" d="100"/>
        </p:scale>
        <p:origin x="82"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vani Pittala" userId="543e82c34aac4d6c" providerId="LiveId" clId="{D5B9625F-C060-486B-AD93-E307389CE6D8}"/>
    <pc:docChg chg="modSld">
      <pc:chgData name="Srivani Pittala" userId="543e82c34aac4d6c" providerId="LiveId" clId="{D5B9625F-C060-486B-AD93-E307389CE6D8}" dt="2026-10-10T20:09:44.106" v="16"/>
      <pc:docMkLst>
        <pc:docMk/>
      </pc:docMkLst>
      <pc:sldChg chg="modSp">
        <pc:chgData name="Srivani Pittala" userId="543e82c34aac4d6c" providerId="LiveId" clId="{D5B9625F-C060-486B-AD93-E307389CE6D8}" dt="2026-10-10T19:18:27.957" v="1"/>
        <pc:sldMkLst>
          <pc:docMk/>
          <pc:sldMk cId="0" sldId="266"/>
        </pc:sldMkLst>
        <pc:spChg chg="mod">
          <ac:chgData name="Srivani Pittala" userId="543e82c34aac4d6c" providerId="LiveId" clId="{D5B9625F-C060-486B-AD93-E307389CE6D8}" dt="2026-10-10T19:18:27.957" v="1"/>
          <ac:spMkLst>
            <pc:docMk/>
            <pc:sldMk cId="0" sldId="266"/>
            <ac:spMk id="3" creationId="{00000000-0000-0000-0000-000000000000}"/>
          </ac:spMkLst>
        </pc:spChg>
      </pc:sldChg>
      <pc:sldChg chg="addSp modSp">
        <pc:chgData name="Srivani Pittala" userId="543e82c34aac4d6c" providerId="LiveId" clId="{D5B9625F-C060-486B-AD93-E307389CE6D8}" dt="2026-10-10T19:28:04.805" v="4"/>
        <pc:sldMkLst>
          <pc:docMk/>
          <pc:sldMk cId="0" sldId="267"/>
        </pc:sldMkLst>
        <pc:spChg chg="mod">
          <ac:chgData name="Srivani Pittala" userId="543e82c34aac4d6c" providerId="LiveId" clId="{D5B9625F-C060-486B-AD93-E307389CE6D8}" dt="2026-10-10T19:28:04.805" v="4"/>
          <ac:spMkLst>
            <pc:docMk/>
            <pc:sldMk cId="0" sldId="267"/>
            <ac:spMk id="7" creationId="{00000000-0000-0000-0000-000000000000}"/>
          </ac:spMkLst>
        </pc:spChg>
        <pc:picChg chg="add">
          <ac:chgData name="Srivani Pittala" userId="543e82c34aac4d6c" providerId="LiveId" clId="{D5B9625F-C060-486B-AD93-E307389CE6D8}" dt="2026-10-10T19:26:10.800" v="2"/>
          <ac:picMkLst>
            <pc:docMk/>
            <pc:sldMk cId="0" sldId="267"/>
            <ac:picMk id="9" creationId="{A52AD864-F341-F29C-5B0C-C1EE3326E9C0}"/>
          </ac:picMkLst>
        </pc:picChg>
        <pc:picChg chg="add">
          <ac:chgData name="Srivani Pittala" userId="543e82c34aac4d6c" providerId="LiveId" clId="{D5B9625F-C060-486B-AD93-E307389CE6D8}" dt="2026-10-10T19:26:57.745" v="3"/>
          <ac:picMkLst>
            <pc:docMk/>
            <pc:sldMk cId="0" sldId="267"/>
            <ac:picMk id="11" creationId="{3A1F3442-AE71-D51A-DD25-E707A4E97E83}"/>
          </ac:picMkLst>
        </pc:picChg>
      </pc:sldChg>
      <pc:sldChg chg="addSp modSp">
        <pc:chgData name="Srivani Pittala" userId="543e82c34aac4d6c" providerId="LiveId" clId="{D5B9625F-C060-486B-AD93-E307389CE6D8}" dt="2026-10-10T20:09:44.106" v="16"/>
        <pc:sldMkLst>
          <pc:docMk/>
          <pc:sldMk cId="0" sldId="268"/>
        </pc:sldMkLst>
        <pc:spChg chg="mod">
          <ac:chgData name="Srivani Pittala" userId="543e82c34aac4d6c" providerId="LiveId" clId="{D5B9625F-C060-486B-AD93-E307389CE6D8}" dt="2026-10-10T20:09:44.106" v="16"/>
          <ac:spMkLst>
            <pc:docMk/>
            <pc:sldMk cId="0" sldId="268"/>
            <ac:spMk id="4" creationId="{00000000-0000-0000-0000-000000000000}"/>
          </ac:spMkLst>
        </pc:spChg>
        <pc:picChg chg="add">
          <ac:chgData name="Srivani Pittala" userId="543e82c34aac4d6c" providerId="LiveId" clId="{D5B9625F-C060-486B-AD93-E307389CE6D8}" dt="2026-10-10T20:07:12.361" v="14"/>
          <ac:picMkLst>
            <pc:docMk/>
            <pc:sldMk cId="0" sldId="268"/>
            <ac:picMk id="8" creationId="{8EB6AC17-0AEF-6490-5E2C-9D57435AF68F}"/>
          </ac:picMkLst>
        </pc:picChg>
        <pc:picChg chg="add">
          <ac:chgData name="Srivani Pittala" userId="543e82c34aac4d6c" providerId="LiveId" clId="{D5B9625F-C060-486B-AD93-E307389CE6D8}" dt="2026-10-10T20:07:50.088" v="15"/>
          <ac:picMkLst>
            <pc:docMk/>
            <pc:sldMk cId="0" sldId="268"/>
            <ac:picMk id="10" creationId="{314E69B7-BEDB-0F64-C24E-464EE5CA1E9D}"/>
          </ac:picMkLst>
        </pc:picChg>
      </pc:sldChg>
      <pc:sldChg chg="addSp modSp">
        <pc:chgData name="Srivani Pittala" userId="543e82c34aac4d6c" providerId="LiveId" clId="{D5B9625F-C060-486B-AD93-E307389CE6D8}" dt="2026-10-10T19:38:30.199" v="6"/>
        <pc:sldMkLst>
          <pc:docMk/>
          <pc:sldMk cId="0" sldId="269"/>
        </pc:sldMkLst>
        <pc:spChg chg="mod">
          <ac:chgData name="Srivani Pittala" userId="543e82c34aac4d6c" providerId="LiveId" clId="{D5B9625F-C060-486B-AD93-E307389CE6D8}" dt="2026-10-10T19:38:30.199" v="6"/>
          <ac:spMkLst>
            <pc:docMk/>
            <pc:sldMk cId="0" sldId="269"/>
            <ac:spMk id="6" creationId="{00000000-0000-0000-0000-000000000000}"/>
          </ac:spMkLst>
        </pc:spChg>
        <pc:picChg chg="add">
          <ac:chgData name="Srivani Pittala" userId="543e82c34aac4d6c" providerId="LiveId" clId="{D5B9625F-C060-486B-AD93-E307389CE6D8}" dt="2026-10-10T19:31:47.708" v="5"/>
          <ac:picMkLst>
            <pc:docMk/>
            <pc:sldMk cId="0" sldId="269"/>
            <ac:picMk id="8" creationId="{375467CA-B714-5C3D-AD9E-3DC5BB4A1149}"/>
          </ac:picMkLst>
        </pc:picChg>
      </pc:sldChg>
      <pc:sldChg chg="addSp delSp modSp">
        <pc:chgData name="Srivani Pittala" userId="543e82c34aac4d6c" providerId="LiveId" clId="{D5B9625F-C060-486B-AD93-E307389CE6D8}" dt="2026-10-10T19:49:24.240" v="10"/>
        <pc:sldMkLst>
          <pc:docMk/>
          <pc:sldMk cId="0" sldId="270"/>
        </pc:sldMkLst>
        <pc:spChg chg="del mod">
          <ac:chgData name="Srivani Pittala" userId="543e82c34aac4d6c" providerId="LiveId" clId="{D5B9625F-C060-486B-AD93-E307389CE6D8}" dt="2026-10-10T19:49:24.240" v="10"/>
          <ac:spMkLst>
            <pc:docMk/>
            <pc:sldMk cId="0" sldId="270"/>
            <ac:spMk id="3" creationId="{00000000-0000-0000-0000-000000000000}"/>
          </ac:spMkLst>
        </pc:spChg>
        <pc:picChg chg="add">
          <ac:chgData name="Srivani Pittala" userId="543e82c34aac4d6c" providerId="LiveId" clId="{D5B9625F-C060-486B-AD93-E307389CE6D8}" dt="2026-10-10T19:41:39.886" v="7"/>
          <ac:picMkLst>
            <pc:docMk/>
            <pc:sldMk cId="0" sldId="270"/>
            <ac:picMk id="6" creationId="{03C4D158-96D9-839F-A2EC-0189C14FC380}"/>
          </ac:picMkLst>
        </pc:picChg>
        <pc:picChg chg="add">
          <ac:chgData name="Srivani Pittala" userId="543e82c34aac4d6c" providerId="LiveId" clId="{D5B9625F-C060-486B-AD93-E307389CE6D8}" dt="2026-10-10T19:46:19.215" v="8"/>
          <ac:picMkLst>
            <pc:docMk/>
            <pc:sldMk cId="0" sldId="270"/>
            <ac:picMk id="8" creationId="{F1D62C40-23E8-6559-7F36-FD3E8808B0EF}"/>
          </ac:picMkLst>
        </pc:picChg>
      </pc:sldChg>
      <pc:sldChg chg="modSp">
        <pc:chgData name="Srivani Pittala" userId="543e82c34aac4d6c" providerId="LiveId" clId="{D5B9625F-C060-486B-AD93-E307389CE6D8}" dt="2026-10-10T19:51:22.854" v="11"/>
        <pc:sldMkLst>
          <pc:docMk/>
          <pc:sldMk cId="0" sldId="271"/>
        </pc:sldMkLst>
        <pc:spChg chg="mod">
          <ac:chgData name="Srivani Pittala" userId="543e82c34aac4d6c" providerId="LiveId" clId="{D5B9625F-C060-486B-AD93-E307389CE6D8}" dt="2026-10-10T19:51:22.854" v="11"/>
          <ac:spMkLst>
            <pc:docMk/>
            <pc:sldMk cId="0" sldId="271"/>
            <ac:spMk id="3" creationId="{00000000-0000-0000-0000-000000000000}"/>
          </ac:spMkLst>
        </pc:spChg>
      </pc:sldChg>
      <pc:sldChg chg="modSp">
        <pc:chgData name="Srivani Pittala" userId="543e82c34aac4d6c" providerId="LiveId" clId="{D5B9625F-C060-486B-AD93-E307389CE6D8}" dt="2026-10-10T19:54:50.626" v="12"/>
        <pc:sldMkLst>
          <pc:docMk/>
          <pc:sldMk cId="0" sldId="273"/>
        </pc:sldMkLst>
        <pc:spChg chg="mod">
          <ac:chgData name="Srivani Pittala" userId="543e82c34aac4d6c" providerId="LiveId" clId="{D5B9625F-C060-486B-AD93-E307389CE6D8}" dt="2026-10-10T19:54:50.626" v="12"/>
          <ac:spMkLst>
            <pc:docMk/>
            <pc:sldMk cId="0" sldId="273"/>
            <ac:spMk id="2" creationId="{00000000-0000-0000-0000-000000000000}"/>
          </ac:spMkLst>
        </pc:spChg>
      </pc:sldChg>
      <pc:sldChg chg="modSp">
        <pc:chgData name="Srivani Pittala" userId="543e82c34aac4d6c" providerId="LiveId" clId="{D5B9625F-C060-486B-AD93-E307389CE6D8}" dt="2026-10-10T19:56:39.724" v="13"/>
        <pc:sldMkLst>
          <pc:docMk/>
          <pc:sldMk cId="0" sldId="274"/>
        </pc:sldMkLst>
        <pc:spChg chg="mod">
          <ac:chgData name="Srivani Pittala" userId="543e82c34aac4d6c" providerId="LiveId" clId="{D5B9625F-C060-486B-AD93-E307389CE6D8}" dt="2026-10-10T19:56:39.724" v="13"/>
          <ac:spMkLst>
            <pc:docMk/>
            <pc:sldMk cId="0" sldId="274"/>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88952" cy="6857879"/>
          </a:xfrm>
          <a:prstGeom prst="rect">
            <a:avLst/>
          </a:prstGeom>
        </p:spPr>
      </p:pic>
      <p:sp>
        <p:nvSpPr>
          <p:cNvPr id="2" name="Holder 2"/>
          <p:cNvSpPr>
            <a:spLocks noGrp="1"/>
          </p:cNvSpPr>
          <p:nvPr>
            <p:ph type="ctrTitle"/>
          </p:nvPr>
        </p:nvSpPr>
        <p:spPr>
          <a:xfrm>
            <a:off x="3512820" y="3716858"/>
            <a:ext cx="5248909" cy="641350"/>
          </a:xfrm>
          <a:prstGeom prst="rect">
            <a:avLst/>
          </a:prstGeom>
        </p:spPr>
        <p:txBody>
          <a:bodyPr wrap="square" lIns="0" tIns="0" rIns="0" bIns="0">
            <a:spAutoFit/>
          </a:bodyPr>
          <a:lstStyle>
            <a:lvl1pPr>
              <a:defRPr sz="3600" b="1" i="0">
                <a:solidFill>
                  <a:srgbClr val="FF0000"/>
                </a:solidFill>
                <a:latin typeface="Tahoma"/>
                <a:cs typeface="Taho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ahoma"/>
                <a:cs typeface="Taho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9474875" y="6256060"/>
            <a:ext cx="2714076" cy="512191"/>
          </a:xfrm>
          <a:prstGeom prst="rect">
            <a:avLst/>
          </a:prstGeom>
        </p:spPr>
      </p:pic>
      <p:sp>
        <p:nvSpPr>
          <p:cNvPr id="2" name="Holder 2"/>
          <p:cNvSpPr>
            <a:spLocks noGrp="1"/>
          </p:cNvSpPr>
          <p:nvPr>
            <p:ph type="title"/>
          </p:nvPr>
        </p:nvSpPr>
        <p:spPr>
          <a:xfrm>
            <a:off x="686663" y="138379"/>
            <a:ext cx="8434069" cy="1117015"/>
          </a:xfrm>
          <a:prstGeom prst="rect">
            <a:avLst/>
          </a:prstGeom>
        </p:spPr>
        <p:txBody>
          <a:bodyPr wrap="square" lIns="0" tIns="0" rIns="0" bIns="0">
            <a:spAutoFit/>
          </a:bodyPr>
          <a:lstStyle>
            <a:lvl1pPr>
              <a:defRPr sz="3600" b="1" i="0">
                <a:solidFill>
                  <a:srgbClr val="FF0000"/>
                </a:solidFill>
                <a:latin typeface="Tahoma"/>
                <a:cs typeface="Tahoma"/>
              </a:defRPr>
            </a:lvl1pPr>
          </a:lstStyle>
          <a:p>
            <a:endParaRPr/>
          </a:p>
        </p:txBody>
      </p:sp>
      <p:sp>
        <p:nvSpPr>
          <p:cNvPr id="3" name="Holder 3"/>
          <p:cNvSpPr>
            <a:spLocks noGrp="1"/>
          </p:cNvSpPr>
          <p:nvPr>
            <p:ph type="body" idx="1"/>
          </p:nvPr>
        </p:nvSpPr>
        <p:spPr>
          <a:xfrm>
            <a:off x="2157222" y="1917382"/>
            <a:ext cx="7821295" cy="332232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2057400" y="3716858"/>
            <a:ext cx="7490841" cy="633507"/>
          </a:xfrm>
          <a:prstGeom prst="rect">
            <a:avLst/>
          </a:prstGeom>
        </p:spPr>
        <p:txBody>
          <a:bodyPr vert="horz" wrap="square" lIns="0" tIns="17780" rIns="0" bIns="0" rtlCol="0">
            <a:spAutoFit/>
          </a:bodyPr>
          <a:lstStyle/>
          <a:p>
            <a:pPr marL="12700" algn="ctr">
              <a:lnSpc>
                <a:spcPct val="100000"/>
              </a:lnSpc>
              <a:spcBef>
                <a:spcPts val="140"/>
              </a:spcBef>
            </a:pPr>
            <a:r>
              <a:rPr lang="en-IN" sz="4000" dirty="0">
                <a:solidFill>
                  <a:schemeClr val="tx1"/>
                </a:solidFill>
              </a:rPr>
              <a:t>Real Estate Market Analysis</a:t>
            </a:r>
            <a:endParaRPr sz="4000" dirty="0">
              <a:solidFill>
                <a:schemeClr val="tx1"/>
              </a:solidFill>
              <a:latin typeface="Calibri"/>
              <a:cs typeface="Calibri"/>
            </a:endParaRPr>
          </a:p>
        </p:txBody>
      </p:sp>
      <p:sp>
        <p:nvSpPr>
          <p:cNvPr id="3" name="object 3"/>
          <p:cNvSpPr txBox="1"/>
          <p:nvPr/>
        </p:nvSpPr>
        <p:spPr>
          <a:xfrm>
            <a:off x="8915400" y="5039804"/>
            <a:ext cx="1524000" cy="869469"/>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1F3863"/>
                </a:solidFill>
                <a:latin typeface="Calibri"/>
                <a:cs typeface="Calibri"/>
              </a:rPr>
              <a:t>Presented</a:t>
            </a:r>
            <a:r>
              <a:rPr sz="1800" spc="-90" dirty="0">
                <a:solidFill>
                  <a:srgbClr val="1F3863"/>
                </a:solidFill>
                <a:latin typeface="Calibri"/>
                <a:cs typeface="Calibri"/>
              </a:rPr>
              <a:t> </a:t>
            </a:r>
            <a:r>
              <a:rPr sz="1800" spc="-25" dirty="0">
                <a:solidFill>
                  <a:srgbClr val="1F3863"/>
                </a:solidFill>
                <a:latin typeface="Calibri"/>
                <a:cs typeface="Calibri"/>
              </a:rPr>
              <a:t>by-</a:t>
            </a:r>
            <a:endParaRPr lang="en-IN" b="1" spc="-25" dirty="0">
              <a:solidFill>
                <a:srgbClr val="1F3863"/>
              </a:solidFill>
              <a:latin typeface="Calibri"/>
              <a:cs typeface="Calibri"/>
            </a:endParaRPr>
          </a:p>
          <a:p>
            <a:pPr marL="12700" marR="5080">
              <a:lnSpc>
                <a:spcPct val="100000"/>
              </a:lnSpc>
              <a:spcBef>
                <a:spcPts val="100"/>
              </a:spcBef>
            </a:pPr>
            <a:r>
              <a:rPr lang="en-IN" sz="1800" b="1" spc="-25" dirty="0">
                <a:solidFill>
                  <a:srgbClr val="1F3863"/>
                </a:solidFill>
                <a:latin typeface="Calibri"/>
                <a:cs typeface="Calibri"/>
              </a:rPr>
              <a:t>P. Srivani</a:t>
            </a:r>
            <a:r>
              <a:rPr sz="1800" b="1" spc="-10" dirty="0">
                <a:solidFill>
                  <a:srgbClr val="1F3863"/>
                </a:solidFill>
                <a:latin typeface="Calibri"/>
                <a:cs typeface="Calibri"/>
              </a:rPr>
              <a:t> </a:t>
            </a:r>
            <a:endParaRPr lang="en-IN" sz="1800" b="1" spc="-10" dirty="0">
              <a:solidFill>
                <a:srgbClr val="1F3863"/>
              </a:solidFill>
              <a:latin typeface="Calibri"/>
              <a:cs typeface="Calibri"/>
            </a:endParaRPr>
          </a:p>
          <a:p>
            <a:pPr marL="12700" marR="5080">
              <a:lnSpc>
                <a:spcPct val="100000"/>
              </a:lnSpc>
              <a:spcBef>
                <a:spcPts val="100"/>
              </a:spcBef>
            </a:pPr>
            <a:r>
              <a:rPr sz="1800" dirty="0">
                <a:solidFill>
                  <a:srgbClr val="1F3863"/>
                </a:solidFill>
                <a:latin typeface="Calibri"/>
                <a:cs typeface="Calibri"/>
              </a:rPr>
              <a:t>Batch</a:t>
            </a:r>
            <a:r>
              <a:rPr sz="1800" spc="-5" dirty="0">
                <a:solidFill>
                  <a:srgbClr val="1F3863"/>
                </a:solidFill>
                <a:latin typeface="Calibri"/>
                <a:cs typeface="Calibri"/>
              </a:rPr>
              <a:t> </a:t>
            </a:r>
            <a:r>
              <a:rPr sz="1800" dirty="0">
                <a:solidFill>
                  <a:srgbClr val="1F3863"/>
                </a:solidFill>
                <a:latin typeface="Calibri"/>
                <a:cs typeface="Calibri"/>
              </a:rPr>
              <a:t>No.</a:t>
            </a:r>
            <a:r>
              <a:rPr sz="1800" spc="-10" dirty="0">
                <a:solidFill>
                  <a:srgbClr val="1F3863"/>
                </a:solidFill>
                <a:latin typeface="Calibri"/>
                <a:cs typeface="Calibri"/>
              </a:rPr>
              <a:t> </a:t>
            </a:r>
            <a:r>
              <a:rPr lang="en-IN" spc="-25" dirty="0">
                <a:solidFill>
                  <a:srgbClr val="1F3863"/>
                </a:solidFill>
                <a:latin typeface="Calibri"/>
                <a:cs typeface="Calibri"/>
              </a:rPr>
              <a:t>546</a:t>
            </a:r>
            <a:endParaRPr sz="18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7917" y="669290"/>
            <a:ext cx="1573530" cy="575310"/>
          </a:xfrm>
          <a:prstGeom prst="rect">
            <a:avLst/>
          </a:prstGeom>
        </p:spPr>
        <p:txBody>
          <a:bodyPr vert="horz" wrap="square" lIns="0" tIns="13335" rIns="0" bIns="0" rtlCol="0">
            <a:spAutoFit/>
          </a:bodyPr>
          <a:lstStyle/>
          <a:p>
            <a:pPr marL="12700">
              <a:lnSpc>
                <a:spcPct val="100000"/>
              </a:lnSpc>
              <a:spcBef>
                <a:spcPts val="105"/>
              </a:spcBef>
            </a:pPr>
            <a:r>
              <a:rPr spc="-229" dirty="0"/>
              <a:t>Agenda</a:t>
            </a:r>
          </a:p>
        </p:txBody>
      </p:sp>
      <p:sp>
        <p:nvSpPr>
          <p:cNvPr id="3" name="object 3"/>
          <p:cNvSpPr txBox="1"/>
          <p:nvPr/>
        </p:nvSpPr>
        <p:spPr>
          <a:xfrm>
            <a:off x="1853310" y="1603946"/>
            <a:ext cx="4498340" cy="4147185"/>
          </a:xfrm>
          <a:prstGeom prst="rect">
            <a:avLst/>
          </a:prstGeom>
        </p:spPr>
        <p:txBody>
          <a:bodyPr vert="horz" wrap="square" lIns="0" tIns="12700" rIns="0" bIns="0" rtlCol="0">
            <a:spAutoFit/>
          </a:bodyPr>
          <a:lstStyle/>
          <a:p>
            <a:pPr marL="298450" indent="-285750">
              <a:lnSpc>
                <a:spcPct val="100000"/>
              </a:lnSpc>
              <a:spcBef>
                <a:spcPts val="100"/>
              </a:spcBef>
              <a:buChar char="•"/>
              <a:tabLst>
                <a:tab pos="298450" algn="l"/>
              </a:tabLst>
            </a:pPr>
            <a:r>
              <a:rPr sz="1800" dirty="0">
                <a:latin typeface="Arial"/>
                <a:cs typeface="Arial"/>
              </a:rPr>
              <a:t>Business</a:t>
            </a:r>
            <a:r>
              <a:rPr sz="1800" spc="-75" dirty="0">
                <a:latin typeface="Arial"/>
                <a:cs typeface="Arial"/>
              </a:rPr>
              <a:t> </a:t>
            </a:r>
            <a:r>
              <a:rPr sz="1800" spc="-10" dirty="0">
                <a:latin typeface="Arial"/>
                <a:cs typeface="Arial"/>
              </a:rPr>
              <a:t>Problem</a:t>
            </a:r>
            <a:endParaRPr sz="1800" dirty="0">
              <a:latin typeface="Arial"/>
              <a:cs typeface="Arial"/>
            </a:endParaRPr>
          </a:p>
          <a:p>
            <a:pPr>
              <a:lnSpc>
                <a:spcPct val="100000"/>
              </a:lnSpc>
              <a:spcBef>
                <a:spcPts val="95"/>
              </a:spcBef>
              <a:buFont typeface="Arial"/>
              <a:buChar char="•"/>
            </a:pPr>
            <a:endParaRPr sz="1800" dirty="0">
              <a:latin typeface="Arial"/>
              <a:cs typeface="Arial"/>
            </a:endParaRPr>
          </a:p>
          <a:p>
            <a:pPr marL="298450" indent="-285750">
              <a:lnSpc>
                <a:spcPct val="100000"/>
              </a:lnSpc>
              <a:spcBef>
                <a:spcPts val="5"/>
              </a:spcBef>
              <a:buChar char="•"/>
              <a:tabLst>
                <a:tab pos="298450" algn="l"/>
              </a:tabLst>
            </a:pPr>
            <a:r>
              <a:rPr sz="1800" dirty="0">
                <a:latin typeface="Arial"/>
                <a:cs typeface="Arial"/>
              </a:rPr>
              <a:t>Problem</a:t>
            </a:r>
            <a:r>
              <a:rPr sz="1800" spc="-40" dirty="0">
                <a:latin typeface="Arial"/>
                <a:cs typeface="Arial"/>
              </a:rPr>
              <a:t> </a:t>
            </a:r>
            <a:r>
              <a:rPr sz="1800" spc="-10" dirty="0">
                <a:latin typeface="Arial"/>
                <a:cs typeface="Arial"/>
              </a:rPr>
              <a:t>Statement</a:t>
            </a:r>
            <a:endParaRPr sz="1800" dirty="0">
              <a:latin typeface="Arial"/>
              <a:cs typeface="Arial"/>
            </a:endParaRPr>
          </a:p>
          <a:p>
            <a:pPr>
              <a:lnSpc>
                <a:spcPct val="100000"/>
              </a:lnSpc>
              <a:spcBef>
                <a:spcPts val="95"/>
              </a:spcBef>
              <a:buFont typeface="Arial"/>
              <a:buChar char="•"/>
            </a:pPr>
            <a:endParaRPr sz="1800" dirty="0">
              <a:latin typeface="Arial"/>
              <a:cs typeface="Arial"/>
            </a:endParaRPr>
          </a:p>
          <a:p>
            <a:pPr marL="298450" indent="-285750">
              <a:lnSpc>
                <a:spcPct val="100000"/>
              </a:lnSpc>
              <a:buChar char="•"/>
              <a:tabLst>
                <a:tab pos="298450" algn="l"/>
              </a:tabLst>
            </a:pPr>
            <a:r>
              <a:rPr sz="1800" dirty="0">
                <a:latin typeface="Arial"/>
                <a:cs typeface="Arial"/>
              </a:rPr>
              <a:t>Project</a:t>
            </a:r>
            <a:r>
              <a:rPr sz="1800" spc="-20" dirty="0">
                <a:latin typeface="Arial"/>
                <a:cs typeface="Arial"/>
              </a:rPr>
              <a:t> </a:t>
            </a:r>
            <a:r>
              <a:rPr sz="1800" spc="-10" dirty="0">
                <a:latin typeface="Arial"/>
                <a:cs typeface="Arial"/>
              </a:rPr>
              <a:t>Objective</a:t>
            </a:r>
            <a:endParaRPr sz="1800" dirty="0">
              <a:latin typeface="Arial"/>
              <a:cs typeface="Arial"/>
            </a:endParaRPr>
          </a:p>
          <a:p>
            <a:pPr>
              <a:lnSpc>
                <a:spcPct val="100000"/>
              </a:lnSpc>
              <a:spcBef>
                <a:spcPts val="95"/>
              </a:spcBef>
              <a:buFont typeface="Arial"/>
              <a:buChar char="•"/>
            </a:pPr>
            <a:endParaRPr sz="1800" dirty="0">
              <a:latin typeface="Arial"/>
              <a:cs typeface="Arial"/>
            </a:endParaRPr>
          </a:p>
          <a:p>
            <a:pPr marL="298450" indent="-285750">
              <a:lnSpc>
                <a:spcPct val="100000"/>
              </a:lnSpc>
              <a:buChar char="•"/>
              <a:tabLst>
                <a:tab pos="298450" algn="l"/>
              </a:tabLst>
            </a:pPr>
            <a:r>
              <a:rPr sz="1800" dirty="0">
                <a:latin typeface="Arial"/>
                <a:cs typeface="Arial"/>
              </a:rPr>
              <a:t>Project</a:t>
            </a:r>
            <a:r>
              <a:rPr sz="1800" spc="-35" dirty="0">
                <a:latin typeface="Arial"/>
                <a:cs typeface="Arial"/>
              </a:rPr>
              <a:t> </a:t>
            </a:r>
            <a:r>
              <a:rPr sz="1800" spc="-20" dirty="0">
                <a:latin typeface="Arial"/>
                <a:cs typeface="Arial"/>
              </a:rPr>
              <a:t>Flow</a:t>
            </a:r>
            <a:endParaRPr sz="1800" dirty="0">
              <a:latin typeface="Arial"/>
              <a:cs typeface="Arial"/>
            </a:endParaRPr>
          </a:p>
          <a:p>
            <a:pPr>
              <a:lnSpc>
                <a:spcPct val="100000"/>
              </a:lnSpc>
              <a:spcBef>
                <a:spcPts val="100"/>
              </a:spcBef>
              <a:buFont typeface="Arial"/>
              <a:buChar char="•"/>
            </a:pPr>
            <a:endParaRPr sz="1800" dirty="0">
              <a:latin typeface="Arial"/>
              <a:cs typeface="Arial"/>
            </a:endParaRPr>
          </a:p>
          <a:p>
            <a:pPr marL="298450" indent="-285750">
              <a:lnSpc>
                <a:spcPct val="100000"/>
              </a:lnSpc>
              <a:buChar char="•"/>
              <a:tabLst>
                <a:tab pos="298450" algn="l"/>
              </a:tabLst>
            </a:pPr>
            <a:r>
              <a:rPr sz="1800" dirty="0">
                <a:latin typeface="Arial"/>
                <a:cs typeface="Arial"/>
              </a:rPr>
              <a:t>Dataset</a:t>
            </a:r>
            <a:r>
              <a:rPr sz="1800" spc="-50" dirty="0">
                <a:latin typeface="Arial"/>
                <a:cs typeface="Arial"/>
              </a:rPr>
              <a:t> </a:t>
            </a:r>
            <a:r>
              <a:rPr sz="1800" spc="-10" dirty="0">
                <a:latin typeface="Arial"/>
                <a:cs typeface="Arial"/>
              </a:rPr>
              <a:t>Overview</a:t>
            </a:r>
            <a:endParaRPr sz="1800" dirty="0">
              <a:latin typeface="Arial"/>
              <a:cs typeface="Arial"/>
            </a:endParaRPr>
          </a:p>
          <a:p>
            <a:pPr>
              <a:lnSpc>
                <a:spcPct val="100000"/>
              </a:lnSpc>
              <a:spcBef>
                <a:spcPts val="95"/>
              </a:spcBef>
              <a:buFont typeface="Arial"/>
              <a:buChar char="•"/>
            </a:pPr>
            <a:endParaRPr sz="1800" dirty="0">
              <a:latin typeface="Arial"/>
              <a:cs typeface="Arial"/>
            </a:endParaRPr>
          </a:p>
          <a:p>
            <a:pPr marL="298450" indent="-285750">
              <a:lnSpc>
                <a:spcPct val="100000"/>
              </a:lnSpc>
              <a:buChar char="•"/>
              <a:tabLst>
                <a:tab pos="298450" algn="l"/>
              </a:tabLst>
            </a:pPr>
            <a:r>
              <a:rPr sz="1800" dirty="0">
                <a:latin typeface="Arial"/>
                <a:cs typeface="Arial"/>
              </a:rPr>
              <a:t>Project</a:t>
            </a:r>
            <a:r>
              <a:rPr sz="1800" spc="-20" dirty="0">
                <a:latin typeface="Arial"/>
                <a:cs typeface="Arial"/>
              </a:rPr>
              <a:t> </a:t>
            </a:r>
            <a:r>
              <a:rPr sz="1800" dirty="0">
                <a:latin typeface="Arial"/>
                <a:cs typeface="Arial"/>
              </a:rPr>
              <a:t>steps</a:t>
            </a:r>
            <a:r>
              <a:rPr sz="1800" spc="-60" dirty="0">
                <a:latin typeface="Arial"/>
                <a:cs typeface="Arial"/>
              </a:rPr>
              <a:t> </a:t>
            </a:r>
            <a:r>
              <a:rPr sz="1800" dirty="0">
                <a:latin typeface="Arial"/>
                <a:cs typeface="Arial"/>
              </a:rPr>
              <a:t>and</a:t>
            </a:r>
            <a:r>
              <a:rPr sz="1800" spc="-15" dirty="0">
                <a:latin typeface="Arial"/>
                <a:cs typeface="Arial"/>
              </a:rPr>
              <a:t> </a:t>
            </a:r>
            <a:r>
              <a:rPr sz="1800" spc="-10" dirty="0">
                <a:latin typeface="Arial"/>
                <a:cs typeface="Arial"/>
              </a:rPr>
              <a:t>screenshots</a:t>
            </a:r>
            <a:endParaRPr sz="1800" dirty="0">
              <a:latin typeface="Arial"/>
              <a:cs typeface="Arial"/>
            </a:endParaRPr>
          </a:p>
          <a:p>
            <a:pPr>
              <a:lnSpc>
                <a:spcPct val="100000"/>
              </a:lnSpc>
              <a:spcBef>
                <a:spcPts val="100"/>
              </a:spcBef>
              <a:buFont typeface="Arial"/>
              <a:buChar char="•"/>
            </a:pPr>
            <a:endParaRPr sz="1800" dirty="0">
              <a:latin typeface="Arial"/>
              <a:cs typeface="Arial"/>
            </a:endParaRPr>
          </a:p>
          <a:p>
            <a:pPr marL="298450" indent="-285750">
              <a:lnSpc>
                <a:spcPct val="100000"/>
              </a:lnSpc>
              <a:buChar char="•"/>
              <a:tabLst>
                <a:tab pos="298450" algn="l"/>
              </a:tabLst>
            </a:pPr>
            <a:r>
              <a:rPr sz="1800" dirty="0">
                <a:latin typeface="Arial"/>
                <a:cs typeface="Arial"/>
              </a:rPr>
              <a:t>Business</a:t>
            </a:r>
            <a:r>
              <a:rPr sz="1800" spc="-65" dirty="0">
                <a:latin typeface="Arial"/>
                <a:cs typeface="Arial"/>
              </a:rPr>
              <a:t> </a:t>
            </a:r>
            <a:r>
              <a:rPr sz="1800" dirty="0">
                <a:latin typeface="Arial"/>
                <a:cs typeface="Arial"/>
              </a:rPr>
              <a:t>Insights</a:t>
            </a:r>
            <a:r>
              <a:rPr sz="1800" spc="-50" dirty="0">
                <a:latin typeface="Arial"/>
                <a:cs typeface="Arial"/>
              </a:rPr>
              <a:t> </a:t>
            </a:r>
            <a:r>
              <a:rPr sz="1800" dirty="0">
                <a:latin typeface="Arial"/>
                <a:cs typeface="Arial"/>
              </a:rPr>
              <a:t>and</a:t>
            </a:r>
            <a:r>
              <a:rPr sz="1800" spc="-10" dirty="0">
                <a:latin typeface="Arial"/>
                <a:cs typeface="Arial"/>
              </a:rPr>
              <a:t> Recommendations</a:t>
            </a:r>
            <a:endParaRPr sz="1800" dirty="0">
              <a:latin typeface="Arial"/>
              <a:cs typeface="Arial"/>
            </a:endParaRPr>
          </a:p>
          <a:p>
            <a:pPr>
              <a:lnSpc>
                <a:spcPct val="100000"/>
              </a:lnSpc>
              <a:spcBef>
                <a:spcPts val="95"/>
              </a:spcBef>
              <a:buFont typeface="Arial"/>
              <a:buChar char="•"/>
            </a:pPr>
            <a:endParaRPr sz="1800" dirty="0">
              <a:latin typeface="Arial"/>
              <a:cs typeface="Arial"/>
            </a:endParaRPr>
          </a:p>
          <a:p>
            <a:pPr marL="298450" indent="-285750">
              <a:lnSpc>
                <a:spcPct val="100000"/>
              </a:lnSpc>
              <a:buChar char="•"/>
              <a:tabLst>
                <a:tab pos="298450" algn="l"/>
              </a:tabLst>
            </a:pPr>
            <a:r>
              <a:rPr sz="1800" spc="-10" dirty="0">
                <a:latin typeface="Arial"/>
                <a:cs typeface="Arial"/>
              </a:rPr>
              <a:t>Conclusion</a:t>
            </a:r>
            <a:endParaRPr sz="1800"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44245" rIns="0" bIns="0" rtlCol="0">
            <a:spAutoFit/>
          </a:bodyPr>
          <a:lstStyle/>
          <a:p>
            <a:pPr marL="293370">
              <a:lnSpc>
                <a:spcPct val="100000"/>
              </a:lnSpc>
              <a:spcBef>
                <a:spcPts val="105"/>
              </a:spcBef>
            </a:pPr>
            <a:r>
              <a:rPr spc="-245" dirty="0"/>
              <a:t>Business</a:t>
            </a:r>
            <a:r>
              <a:rPr spc="-125" dirty="0"/>
              <a:t> </a:t>
            </a:r>
            <a:r>
              <a:rPr spc="-215" dirty="0"/>
              <a:t>Problem</a:t>
            </a:r>
          </a:p>
        </p:txBody>
      </p:sp>
      <p:sp>
        <p:nvSpPr>
          <p:cNvPr id="3" name="object 3"/>
          <p:cNvSpPr txBox="1"/>
          <p:nvPr/>
        </p:nvSpPr>
        <p:spPr>
          <a:xfrm>
            <a:off x="609600" y="1255394"/>
            <a:ext cx="10363199" cy="4773102"/>
          </a:xfrm>
          <a:prstGeom prst="rect">
            <a:avLst/>
          </a:prstGeom>
        </p:spPr>
        <p:txBody>
          <a:bodyPr vert="horz" wrap="square" lIns="0" tIns="12700" rIns="0" bIns="0" rtlCol="0">
            <a:spAutoFit/>
          </a:bodyPr>
          <a:lstStyle/>
          <a:p>
            <a:endParaRPr lang="en-IN" b="1" dirty="0"/>
          </a:p>
          <a:p>
            <a:pPr marL="285750" indent="-285750">
              <a:lnSpc>
                <a:spcPct val="150000"/>
              </a:lnSpc>
              <a:buFont typeface="Arial" panose="020B0604020202020204" pitchFamily="34" charset="0"/>
              <a:buChar char="•"/>
            </a:pPr>
            <a:r>
              <a:rPr lang="en-IN" sz="2000" dirty="0"/>
              <a:t>The real estate market in Hyderabad offers a wide range of residential properties with varying prices, sizes, BHK configurations, and property types. However, comparing these properties and identifying affordable locations and suitable investment options can be challenging for buyers and investors.</a:t>
            </a:r>
          </a:p>
          <a:p>
            <a:pPr marL="285750" indent="-285750">
              <a:lnSpc>
                <a:spcPct val="150000"/>
              </a:lnSpc>
              <a:buFont typeface="Arial" panose="020B0604020202020204" pitchFamily="34" charset="0"/>
              <a:buChar char="•"/>
            </a:pPr>
            <a:r>
              <a:rPr lang="en-IN" sz="2000" dirty="0"/>
              <a:t>This project analyses property data collected from 99acres to understand property price patterns, compare prices across BHK configurations and property types, identify popular locations, and examine the relationship between property area and price.</a:t>
            </a:r>
          </a:p>
          <a:p>
            <a:pPr marL="285750" indent="-285750">
              <a:lnSpc>
                <a:spcPct val="150000"/>
              </a:lnSpc>
              <a:buFont typeface="Arial" panose="020B0604020202020204" pitchFamily="34" charset="0"/>
              <a:buChar char="•"/>
            </a:pPr>
            <a:r>
              <a:rPr lang="en-IN" sz="2000" dirty="0"/>
              <a:t>The goal is to transform raw real estate data into meaningful insights that support better property-buying and investment decisions.</a:t>
            </a:r>
          </a:p>
          <a:p>
            <a:pPr marL="469900" indent="-298450">
              <a:lnSpc>
                <a:spcPct val="100000"/>
              </a:lnSpc>
              <a:spcBef>
                <a:spcPts val="360"/>
              </a:spcBef>
              <a:buSzPct val="58333"/>
              <a:buChar char="●"/>
              <a:tabLst>
                <a:tab pos="469900" algn="l"/>
              </a:tabLst>
            </a:pPr>
            <a:endParaRPr sz="1800" dirty="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44245" rIns="0" bIns="0" rtlCol="0">
            <a:spAutoFit/>
          </a:bodyPr>
          <a:lstStyle/>
          <a:p>
            <a:pPr marL="293370">
              <a:lnSpc>
                <a:spcPct val="100000"/>
              </a:lnSpc>
              <a:spcBef>
                <a:spcPts val="105"/>
              </a:spcBef>
            </a:pPr>
            <a:r>
              <a:rPr spc="-245" dirty="0"/>
              <a:t>Problem</a:t>
            </a:r>
            <a:r>
              <a:rPr spc="-125" dirty="0"/>
              <a:t> </a:t>
            </a:r>
            <a:r>
              <a:rPr spc="-275" dirty="0"/>
              <a:t>Statement</a:t>
            </a:r>
          </a:p>
        </p:txBody>
      </p:sp>
      <p:sp>
        <p:nvSpPr>
          <p:cNvPr id="3" name="object 3"/>
          <p:cNvSpPr txBox="1"/>
          <p:nvPr/>
        </p:nvSpPr>
        <p:spPr>
          <a:xfrm>
            <a:off x="686663" y="1371600"/>
            <a:ext cx="10438537" cy="666208"/>
          </a:xfrm>
          <a:prstGeom prst="rect">
            <a:avLst/>
          </a:prstGeom>
        </p:spPr>
        <p:txBody>
          <a:bodyPr vert="horz" wrap="square" lIns="0" tIns="12065" rIns="0" bIns="0" rtlCol="0">
            <a:spAutoFit/>
          </a:bodyPr>
          <a:lstStyle/>
          <a:p>
            <a:pPr marL="285750" indent="-285750">
              <a:buFont typeface="Arial" panose="020B0604020202020204" pitchFamily="34" charset="0"/>
              <a:buChar char="•"/>
            </a:pPr>
            <a:endParaRPr lang="en-IN" dirty="0"/>
          </a:p>
          <a:p>
            <a:pPr marL="355600" marR="419734" indent="-343535">
              <a:lnSpc>
                <a:spcPct val="150300"/>
              </a:lnSpc>
              <a:spcBef>
                <a:spcPts val="95"/>
              </a:spcBef>
              <a:buChar char="●"/>
              <a:tabLst>
                <a:tab pos="355600" algn="l"/>
              </a:tabLst>
            </a:pPr>
            <a:endParaRPr sz="1800" dirty="0">
              <a:latin typeface="Arial"/>
              <a:cs typeface="Arial"/>
            </a:endParaRPr>
          </a:p>
        </p:txBody>
      </p:sp>
      <p:sp>
        <p:nvSpPr>
          <p:cNvPr id="5" name="TextBox 4">
            <a:extLst>
              <a:ext uri="{FF2B5EF4-FFF2-40B4-BE49-F238E27FC236}">
                <a16:creationId xmlns:a16="http://schemas.microsoft.com/office/drawing/2014/main" id="{BE383174-74EF-DDBA-8978-0376F485B75D}"/>
              </a:ext>
            </a:extLst>
          </p:cNvPr>
          <p:cNvSpPr txBox="1"/>
          <p:nvPr/>
        </p:nvSpPr>
        <p:spPr>
          <a:xfrm>
            <a:off x="914400" y="1538080"/>
            <a:ext cx="9525000" cy="280532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000" dirty="0"/>
              <a:t>The objective of this project is to analyse Hyderabad real estate data to identify variations in property prices, understand how BHK configurations and property types influence pricing, and explore differences in property values across locations. The analysis also investigates the relationship between property area and price to identify pricing trends and patterns that can help buyers compare available properties and make informed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44245" rIns="0" bIns="0" rtlCol="0">
            <a:spAutoFit/>
          </a:bodyPr>
          <a:lstStyle/>
          <a:p>
            <a:pPr marL="293370">
              <a:lnSpc>
                <a:spcPct val="100000"/>
              </a:lnSpc>
              <a:spcBef>
                <a:spcPts val="105"/>
              </a:spcBef>
            </a:pPr>
            <a:r>
              <a:rPr spc="-215" dirty="0"/>
              <a:t>Project</a:t>
            </a:r>
            <a:r>
              <a:rPr spc="-210" dirty="0"/>
              <a:t> </a:t>
            </a:r>
            <a:r>
              <a:rPr spc="-175" dirty="0"/>
              <a:t>Objective</a:t>
            </a:r>
          </a:p>
        </p:txBody>
      </p:sp>
      <p:sp>
        <p:nvSpPr>
          <p:cNvPr id="3" name="object 3"/>
          <p:cNvSpPr txBox="1"/>
          <p:nvPr/>
        </p:nvSpPr>
        <p:spPr>
          <a:xfrm>
            <a:off x="762431" y="1676400"/>
            <a:ext cx="10667137" cy="3424655"/>
          </a:xfrm>
          <a:prstGeom prst="rect">
            <a:avLst/>
          </a:prstGeom>
        </p:spPr>
        <p:txBody>
          <a:bodyPr vert="horz" wrap="square" lIns="0" tIns="150495" rIns="0" bIns="0" rtlCol="0">
            <a:spAutoFit/>
          </a:bodyPr>
          <a:lstStyle/>
          <a:p>
            <a:pPr marL="342900" lvl="0" indent="-342900">
              <a:lnSpc>
                <a:spcPct val="150000"/>
              </a:lnSpc>
              <a:buFont typeface="Arial" panose="020B0604020202020204" pitchFamily="34" charset="0"/>
              <a:buChar char="•"/>
            </a:pPr>
            <a:r>
              <a:rPr lang="en-IN" dirty="0"/>
              <a:t>To collect, clean, and analyze residential property data from 99acres for the Hyderabad real estate market.</a:t>
            </a:r>
          </a:p>
          <a:p>
            <a:pPr marL="342900" lvl="0" indent="-342900">
              <a:lnSpc>
                <a:spcPct val="150000"/>
              </a:lnSpc>
              <a:buFont typeface="Arial" panose="020B0604020202020204" pitchFamily="34" charset="0"/>
              <a:buChar char="•"/>
            </a:pPr>
            <a:r>
              <a:rPr lang="en-IN" dirty="0"/>
              <a:t>To analyze property prices and categorize properties into Budget, Mid-range, Premium, and Luxury segments.</a:t>
            </a:r>
          </a:p>
          <a:p>
            <a:pPr marL="342900" lvl="0" indent="-342900">
              <a:lnSpc>
                <a:spcPct val="150000"/>
              </a:lnSpc>
              <a:buFont typeface="Arial" panose="020B0604020202020204" pitchFamily="34" charset="0"/>
              <a:buChar char="•"/>
            </a:pPr>
            <a:r>
              <a:rPr lang="en-IN" dirty="0"/>
              <a:t>To compare average property prices across different BHK configurations and property types.</a:t>
            </a:r>
          </a:p>
          <a:p>
            <a:pPr marL="342900" lvl="0" indent="-342900">
              <a:lnSpc>
                <a:spcPct val="150000"/>
              </a:lnSpc>
              <a:buFont typeface="Arial" panose="020B0604020202020204" pitchFamily="34" charset="0"/>
              <a:buChar char="•"/>
            </a:pPr>
            <a:r>
              <a:rPr lang="en-IN" dirty="0"/>
              <a:t>To identify popular residential locations based on property listings.</a:t>
            </a:r>
          </a:p>
          <a:p>
            <a:pPr marL="342900" lvl="0" indent="-342900">
              <a:lnSpc>
                <a:spcPct val="150000"/>
              </a:lnSpc>
              <a:buFont typeface="Arial" panose="020B0604020202020204" pitchFamily="34" charset="0"/>
              <a:buChar char="•"/>
            </a:pPr>
            <a:r>
              <a:rPr lang="en-IN" dirty="0"/>
              <a:t>To study the relationship between property area and price using visualizations and statistical analysis.</a:t>
            </a:r>
          </a:p>
          <a:p>
            <a:pPr marL="342900" lvl="0" indent="-342900">
              <a:lnSpc>
                <a:spcPct val="150000"/>
              </a:lnSpc>
              <a:buFont typeface="Arial" panose="020B0604020202020204" pitchFamily="34" charset="0"/>
              <a:buChar char="•"/>
            </a:pPr>
            <a:r>
              <a:rPr lang="en-IN" dirty="0"/>
              <a:t>To derive meaningful insights that support informed property-buying and investment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59129" y="499059"/>
            <a:ext cx="2604770" cy="575310"/>
          </a:xfrm>
          <a:prstGeom prst="rect">
            <a:avLst/>
          </a:prstGeom>
        </p:spPr>
        <p:txBody>
          <a:bodyPr vert="horz" wrap="square" lIns="0" tIns="13335" rIns="0" bIns="0" rtlCol="0">
            <a:spAutoFit/>
          </a:bodyPr>
          <a:lstStyle/>
          <a:p>
            <a:pPr marL="12700">
              <a:lnSpc>
                <a:spcPct val="100000"/>
              </a:lnSpc>
              <a:spcBef>
                <a:spcPts val="105"/>
              </a:spcBef>
            </a:pPr>
            <a:r>
              <a:rPr spc="-215" dirty="0"/>
              <a:t>Project</a:t>
            </a:r>
            <a:r>
              <a:rPr spc="-220" dirty="0"/>
              <a:t> </a:t>
            </a:r>
            <a:r>
              <a:rPr spc="-145" dirty="0"/>
              <a:t>Flow</a:t>
            </a:r>
          </a:p>
        </p:txBody>
      </p:sp>
      <p:pic>
        <p:nvPicPr>
          <p:cNvPr id="3" name="object 3"/>
          <p:cNvPicPr/>
          <p:nvPr/>
        </p:nvPicPr>
        <p:blipFill>
          <a:blip r:embed="rId2" cstate="print"/>
          <a:stretch>
            <a:fillRect/>
          </a:stretch>
        </p:blipFill>
        <p:spPr>
          <a:xfrm>
            <a:off x="4038600" y="1045061"/>
            <a:ext cx="3904488" cy="48737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6663" y="138379"/>
            <a:ext cx="3733165" cy="575310"/>
          </a:xfrm>
          <a:prstGeom prst="rect">
            <a:avLst/>
          </a:prstGeom>
        </p:spPr>
        <p:txBody>
          <a:bodyPr vert="horz" wrap="square" lIns="0" tIns="13335" rIns="0" bIns="0" rtlCol="0">
            <a:spAutoFit/>
          </a:bodyPr>
          <a:lstStyle/>
          <a:p>
            <a:pPr marL="12700">
              <a:lnSpc>
                <a:spcPct val="100000"/>
              </a:lnSpc>
              <a:spcBef>
                <a:spcPts val="105"/>
              </a:spcBef>
            </a:pPr>
            <a:r>
              <a:rPr spc="-220" dirty="0"/>
              <a:t>Dataset</a:t>
            </a:r>
            <a:r>
              <a:rPr spc="-120" dirty="0"/>
              <a:t> </a:t>
            </a:r>
            <a:r>
              <a:rPr spc="-160" dirty="0"/>
              <a:t>Overview</a:t>
            </a:r>
          </a:p>
        </p:txBody>
      </p:sp>
      <p:graphicFrame>
        <p:nvGraphicFramePr>
          <p:cNvPr id="3" name="object 3"/>
          <p:cNvGraphicFramePr>
            <a:graphicFrameLocks noGrp="1"/>
          </p:cNvGraphicFramePr>
          <p:nvPr>
            <p:extLst>
              <p:ext uri="{D42A27DB-BD31-4B8C-83A1-F6EECF244321}">
                <p14:modId xmlns:p14="http://schemas.microsoft.com/office/powerpoint/2010/main" val="3176240003"/>
              </p:ext>
            </p:extLst>
          </p:nvPr>
        </p:nvGraphicFramePr>
        <p:xfrm>
          <a:off x="304800" y="713689"/>
          <a:ext cx="11658600" cy="5750416"/>
        </p:xfrm>
        <a:graphic>
          <a:graphicData uri="http://schemas.openxmlformats.org/drawingml/2006/table">
            <a:tbl>
              <a:tblPr firstRow="1" bandRow="1">
                <a:tableStyleId>{2D5ABB26-0587-4C30-8999-92F81FD0307C}</a:tableStyleId>
              </a:tblPr>
              <a:tblGrid>
                <a:gridCol w="3851944">
                  <a:extLst>
                    <a:ext uri="{9D8B030D-6E8A-4147-A177-3AD203B41FA5}">
                      <a16:colId xmlns:a16="http://schemas.microsoft.com/office/drawing/2014/main" val="20000"/>
                    </a:ext>
                  </a:extLst>
                </a:gridCol>
                <a:gridCol w="7806656">
                  <a:extLst>
                    <a:ext uri="{9D8B030D-6E8A-4147-A177-3AD203B41FA5}">
                      <a16:colId xmlns:a16="http://schemas.microsoft.com/office/drawing/2014/main" val="20001"/>
                    </a:ext>
                  </a:extLst>
                </a:gridCol>
              </a:tblGrid>
              <a:tr h="373855">
                <a:tc>
                  <a:txBody>
                    <a:bodyPr/>
                    <a:lstStyle/>
                    <a:p>
                      <a:pPr>
                        <a:buNone/>
                      </a:pPr>
                      <a:r>
                        <a:rPr lang="en-IN" dirty="0" err="1">
                          <a:latin typeface="Courier New" panose="02070309020205020404" pitchFamily="49" charset="0"/>
                        </a:rPr>
                        <a:t>Project_name</a:t>
                      </a:r>
                      <a:r>
                        <a:rPr lang="en-IN" dirty="0">
                          <a:latin typeface="Courier New" panose="02070309020205020404" pitchFamily="49" charset="0"/>
                        </a:rPr>
                        <a:t> </a:t>
                      </a:r>
                      <a:endParaRPr lang="en-IN" dirty="0"/>
                    </a:p>
                  </a:txBody>
                  <a:tcPr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buNone/>
                      </a:pPr>
                      <a:r>
                        <a:rPr lang="en-IN" dirty="0"/>
                        <a:t>Name of the residential real estate project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3855">
                <a:tc>
                  <a:txBody>
                    <a:bodyPr/>
                    <a:lstStyle/>
                    <a:p>
                      <a:pPr>
                        <a:buNone/>
                      </a:pPr>
                      <a:r>
                        <a:rPr lang="en-IN">
                          <a:latin typeface="Courier New" panose="02070309020205020404" pitchFamily="49" charset="0"/>
                        </a:rPr>
                        <a:t>status</a:t>
                      </a:r>
                      <a:endParaRPr lang="en-IN"/>
                    </a:p>
                  </a:txBody>
                  <a:tcPr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buNone/>
                      </a:pPr>
                      <a:r>
                        <a:rPr lang="en-IN" dirty="0"/>
                        <a:t>Current project status or construction status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328468"/>
                  </a:ext>
                </a:extLst>
              </a:tr>
              <a:tr h="373855">
                <a:tc>
                  <a:txBody>
                    <a:bodyPr/>
                    <a:lstStyle/>
                    <a:p>
                      <a:pPr>
                        <a:buNone/>
                      </a:pPr>
                      <a:r>
                        <a:rPr lang="en-IN" dirty="0" err="1">
                          <a:latin typeface="Courier New" panose="02070309020205020404" pitchFamily="49" charset="0"/>
                        </a:rPr>
                        <a:t>completion_date</a:t>
                      </a:r>
                      <a:r>
                        <a:rPr lang="en-IN" dirty="0">
                          <a:latin typeface="Courier New" panose="02070309020205020404" pitchFamily="49" charset="0"/>
                        </a:rPr>
                        <a:t> </a:t>
                      </a:r>
                      <a:endParaRPr lang="en-IN" dirty="0"/>
                    </a:p>
                  </a:txBody>
                  <a:tcPr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buNone/>
                      </a:pPr>
                      <a:r>
                        <a:rPr lang="en-IN" dirty="0"/>
                        <a:t>Expected or scheduled project completion date</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9572603"/>
                  </a:ext>
                </a:extLst>
              </a:tr>
              <a:tr h="373855">
                <a:tc>
                  <a:txBody>
                    <a:bodyPr/>
                    <a:lstStyle/>
                    <a:p>
                      <a:pPr>
                        <a:buNone/>
                      </a:pPr>
                      <a:r>
                        <a:rPr lang="en-IN" dirty="0" err="1">
                          <a:latin typeface="Courier New" panose="02070309020205020404" pitchFamily="49" charset="0"/>
                        </a:rPr>
                        <a:t>Bhk</a:t>
                      </a:r>
                      <a:endParaRPr lang="en-IN" dirty="0"/>
                    </a:p>
                  </a:txBody>
                  <a:tcPr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buNone/>
                      </a:pPr>
                      <a:r>
                        <a:rPr lang="en-IN"/>
                        <a:t>Number of bedrooms, hall, and kitchen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7834171"/>
                  </a:ext>
                </a:extLst>
              </a:tr>
              <a:tr h="373855">
                <a:tc>
                  <a:txBody>
                    <a:bodyPr/>
                    <a:lstStyle/>
                    <a:p>
                      <a:pPr>
                        <a:buNone/>
                      </a:pPr>
                      <a:r>
                        <a:rPr lang="en-IN" dirty="0" err="1">
                          <a:latin typeface="Courier New" panose="02070309020205020404" pitchFamily="49" charset="0"/>
                        </a:rPr>
                        <a:t>property_type</a:t>
                      </a:r>
                      <a:endParaRPr lang="en-IN" dirty="0"/>
                    </a:p>
                  </a:txBody>
                  <a:tcPr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buNone/>
                      </a:pPr>
                      <a:r>
                        <a:rPr lang="en-IN" dirty="0"/>
                        <a:t>Type of property, such as apartment or villa</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556727"/>
                  </a:ext>
                </a:extLst>
              </a:tr>
              <a:tr h="373855">
                <a:tc>
                  <a:txBody>
                    <a:bodyPr/>
                    <a:lstStyle/>
                    <a:p>
                      <a:pPr>
                        <a:buNone/>
                      </a:pPr>
                      <a:r>
                        <a:rPr lang="en-IN">
                          <a:latin typeface="Courier New" panose="02070309020205020404" pitchFamily="49" charset="0"/>
                        </a:rPr>
                        <a:t>location</a:t>
                      </a:r>
                      <a:endParaRPr lang="en-IN"/>
                    </a:p>
                  </a:txBody>
                  <a:tcPr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buNone/>
                      </a:pPr>
                      <a:r>
                        <a:rPr lang="en-IN"/>
                        <a:t>Area or locality where the property is situated</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8248799"/>
                  </a:ext>
                </a:extLst>
              </a:tr>
              <a:tr h="373855">
                <a:tc>
                  <a:txBody>
                    <a:bodyPr/>
                    <a:lstStyle/>
                    <a:p>
                      <a:pPr>
                        <a:buNone/>
                      </a:pPr>
                      <a:r>
                        <a:rPr lang="en-IN">
                          <a:latin typeface="Courier New" panose="02070309020205020404" pitchFamily="49" charset="0"/>
                        </a:rPr>
                        <a:t>city</a:t>
                      </a:r>
                      <a:endParaRPr lang="en-IN"/>
                    </a:p>
                  </a:txBody>
                  <a:tcPr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buNone/>
                      </a:pPr>
                      <a:r>
                        <a:rPr lang="en-IN" dirty="0"/>
                        <a:t>City where the property is located</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063340"/>
                  </a:ext>
                </a:extLst>
              </a:tr>
              <a:tr h="373855">
                <a:tc>
                  <a:txBody>
                    <a:bodyPr/>
                    <a:lstStyle/>
                    <a:p>
                      <a:pPr>
                        <a:buNone/>
                      </a:pPr>
                      <a:r>
                        <a:rPr lang="en-IN">
                          <a:latin typeface="Courier New" panose="02070309020205020404" pitchFamily="49" charset="0"/>
                        </a:rPr>
                        <a:t>price</a:t>
                      </a:r>
                      <a:endParaRPr lang="en-IN"/>
                    </a:p>
                  </a:txBody>
                  <a:tcPr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buNone/>
                      </a:pPr>
                      <a:r>
                        <a:rPr lang="en-IN" dirty="0"/>
                        <a:t>Listed property price in Indian rupees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3855">
                <a:tc>
                  <a:txBody>
                    <a:bodyPr/>
                    <a:lstStyle/>
                    <a:p>
                      <a:pPr>
                        <a:buNone/>
                      </a:pPr>
                      <a:r>
                        <a:rPr lang="en-IN">
                          <a:latin typeface="Courier New" panose="02070309020205020404" pitchFamily="49" charset="0"/>
                        </a:rPr>
                        <a:t>area_sqft</a:t>
                      </a:r>
                      <a:endParaRPr lang="en-IN"/>
                    </a:p>
                  </a:txBody>
                  <a:tcPr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buNone/>
                      </a:pPr>
                      <a:r>
                        <a:rPr lang="en-IN" dirty="0"/>
                        <a:t>Property area measured in square feet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3855">
                <a:tc>
                  <a:txBody>
                    <a:bodyPr/>
                    <a:lstStyle/>
                    <a:p>
                      <a:pPr>
                        <a:buNone/>
                      </a:pPr>
                      <a:r>
                        <a:rPr lang="en-IN">
                          <a:latin typeface="Courier New" panose="02070309020205020404" pitchFamily="49" charset="0"/>
                        </a:rPr>
                        <a:t>builder</a:t>
                      </a:r>
                      <a:endParaRPr lang="en-IN"/>
                    </a:p>
                  </a:txBody>
                  <a:tcPr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buNone/>
                      </a:pPr>
                      <a:r>
                        <a:rPr lang="en-IN"/>
                        <a:t>Name of the real estate builder or developer</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3855">
                <a:tc>
                  <a:txBody>
                    <a:bodyPr/>
                    <a:lstStyle/>
                    <a:p>
                      <a:pPr>
                        <a:buNone/>
                      </a:pPr>
                      <a:r>
                        <a:rPr lang="en-IN">
                          <a:latin typeface="Courier New" panose="02070309020205020404" pitchFamily="49" charset="0"/>
                        </a:rPr>
                        <a:t>rera_number</a:t>
                      </a:r>
                      <a:endParaRPr lang="en-IN"/>
                    </a:p>
                  </a:txBody>
                  <a:tcPr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buNone/>
                      </a:pPr>
                      <a:r>
                        <a:rPr lang="en-IN" dirty="0"/>
                        <a:t>Real Estate Regulatory Authority (RERA) registration number</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3855">
                <a:tc>
                  <a:txBody>
                    <a:bodyPr/>
                    <a:lstStyle/>
                    <a:p>
                      <a:pPr>
                        <a:buNone/>
                      </a:pPr>
                      <a:r>
                        <a:rPr lang="en-IN">
                          <a:latin typeface="Courier New" panose="02070309020205020404" pitchFamily="49" charset="0"/>
                        </a:rPr>
                        <a:t>booking_status</a:t>
                      </a:r>
                      <a:endParaRPr lang="en-IN"/>
                    </a:p>
                  </a:txBody>
                  <a:tcPr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buNone/>
                      </a:pPr>
                      <a:r>
                        <a:rPr lang="en-IN" dirty="0"/>
                        <a:t>Booking availability or current booking status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3855">
                <a:tc>
                  <a:txBody>
                    <a:bodyPr/>
                    <a:lstStyle/>
                    <a:p>
                      <a:pPr>
                        <a:buNone/>
                      </a:pPr>
                      <a:r>
                        <a:rPr lang="en-IN">
                          <a:latin typeface="Courier New" panose="02070309020205020404" pitchFamily="49" charset="0"/>
                        </a:rPr>
                        <a:t>offer</a:t>
                      </a:r>
                      <a:endParaRPr lang="en-IN"/>
                    </a:p>
                  </a:txBody>
                  <a:tcPr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buNone/>
                      </a:pPr>
                      <a:r>
                        <a:rPr lang="en-IN"/>
                        <a:t>Special offers or discounts mentioned in the listing</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3855">
                <a:tc>
                  <a:txBody>
                    <a:bodyPr/>
                    <a:lstStyle/>
                    <a:p>
                      <a:pPr>
                        <a:buNone/>
                      </a:pPr>
                      <a:r>
                        <a:rPr lang="en-IN">
                          <a:latin typeface="Courier New" panose="02070309020205020404" pitchFamily="49" charset="0"/>
                        </a:rPr>
                        <a:t>description</a:t>
                      </a:r>
                      <a:endParaRPr lang="en-IN"/>
                    </a:p>
                  </a:txBody>
                  <a:tcPr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buNone/>
                      </a:pPr>
                      <a:r>
                        <a:rPr lang="en-IN"/>
                        <a:t>Text describing the property and its features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16446">
                <a:tc>
                  <a:txBody>
                    <a:bodyPr/>
                    <a:lstStyle/>
                    <a:p>
                      <a:pPr>
                        <a:buNone/>
                      </a:pPr>
                      <a:r>
                        <a:rPr lang="en-IN">
                          <a:latin typeface="Courier New" panose="02070309020205020404" pitchFamily="49" charset="0"/>
                        </a:rPr>
                        <a:t>raw_details</a:t>
                      </a:r>
                      <a:endParaRPr lang="en-IN"/>
                    </a:p>
                  </a:txBody>
                  <a:tcPr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buNone/>
                      </a:pPr>
                      <a:r>
                        <a:rPr lang="en-IN" dirty="0"/>
                        <a:t>Original extracted property details scraped from the website</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5673" rIns="0" bIns="0" rtlCol="0">
            <a:spAutoFit/>
          </a:bodyPr>
          <a:lstStyle/>
          <a:p>
            <a:pPr marL="139065">
              <a:lnSpc>
                <a:spcPct val="100000"/>
              </a:lnSpc>
              <a:spcBef>
                <a:spcPts val="105"/>
              </a:spcBef>
            </a:pPr>
            <a:r>
              <a:rPr spc="-215" dirty="0"/>
              <a:t>Project</a:t>
            </a:r>
            <a:r>
              <a:rPr spc="-225" dirty="0"/>
              <a:t> </a:t>
            </a:r>
            <a:r>
              <a:rPr spc="-240" dirty="0"/>
              <a:t>Steps</a:t>
            </a:r>
            <a:r>
              <a:rPr spc="-170" dirty="0"/>
              <a:t> </a:t>
            </a:r>
            <a:r>
              <a:rPr spc="-295" dirty="0"/>
              <a:t>and</a:t>
            </a:r>
            <a:r>
              <a:rPr spc="-130" dirty="0"/>
              <a:t> </a:t>
            </a:r>
            <a:r>
              <a:rPr spc="-220" dirty="0"/>
              <a:t>Screenshots</a:t>
            </a:r>
          </a:p>
        </p:txBody>
      </p:sp>
      <p:sp>
        <p:nvSpPr>
          <p:cNvPr id="3" name="object 3"/>
          <p:cNvSpPr txBox="1"/>
          <p:nvPr/>
        </p:nvSpPr>
        <p:spPr>
          <a:xfrm>
            <a:off x="1021829" y="1270889"/>
            <a:ext cx="3151505" cy="454659"/>
          </a:xfrm>
          <a:prstGeom prst="rect">
            <a:avLst/>
          </a:prstGeom>
        </p:spPr>
        <p:txBody>
          <a:bodyPr vert="horz" wrap="square" lIns="0" tIns="13970" rIns="0" bIns="0" rtlCol="0">
            <a:spAutoFit/>
          </a:bodyPr>
          <a:lstStyle/>
          <a:p>
            <a:pPr marL="12700">
              <a:lnSpc>
                <a:spcPct val="100000"/>
              </a:lnSpc>
              <a:spcBef>
                <a:spcPts val="110"/>
              </a:spcBef>
            </a:pPr>
            <a:r>
              <a:rPr sz="2800" dirty="0">
                <a:latin typeface="Arial"/>
                <a:cs typeface="Arial"/>
              </a:rPr>
              <a:t>Data</a:t>
            </a:r>
            <a:r>
              <a:rPr sz="2800" spc="-45" dirty="0">
                <a:latin typeface="Arial"/>
                <a:cs typeface="Arial"/>
              </a:rPr>
              <a:t> </a:t>
            </a:r>
            <a:r>
              <a:rPr sz="2800" spc="-10" dirty="0">
                <a:latin typeface="Arial"/>
                <a:cs typeface="Arial"/>
              </a:rPr>
              <a:t>Preprocessing</a:t>
            </a:r>
            <a:endParaRPr sz="2800" dirty="0">
              <a:latin typeface="Arial"/>
              <a:cs typeface="Arial"/>
            </a:endParaRPr>
          </a:p>
        </p:txBody>
      </p:sp>
      <p:sp>
        <p:nvSpPr>
          <p:cNvPr id="4" name="object 4"/>
          <p:cNvSpPr txBox="1"/>
          <p:nvPr/>
        </p:nvSpPr>
        <p:spPr>
          <a:xfrm>
            <a:off x="1872488" y="1869376"/>
            <a:ext cx="4601845" cy="4375785"/>
          </a:xfrm>
          <a:prstGeom prst="rect">
            <a:avLst/>
          </a:prstGeom>
        </p:spPr>
        <p:txBody>
          <a:bodyPr vert="horz" wrap="square" lIns="0" tIns="31115" rIns="0" bIns="0" rtlCol="0">
            <a:spAutoFit/>
          </a:bodyPr>
          <a:lstStyle/>
          <a:p>
            <a:pPr marL="355600" indent="-342900">
              <a:lnSpc>
                <a:spcPct val="100000"/>
              </a:lnSpc>
              <a:spcBef>
                <a:spcPts val="245"/>
              </a:spcBef>
              <a:buChar char="●"/>
              <a:tabLst>
                <a:tab pos="355600" algn="l"/>
              </a:tabLst>
            </a:pPr>
            <a:r>
              <a:rPr sz="1800" dirty="0">
                <a:latin typeface="Arial"/>
                <a:cs typeface="Arial"/>
              </a:rPr>
              <a:t>Checked</a:t>
            </a:r>
            <a:r>
              <a:rPr sz="1800" spc="-15" dirty="0">
                <a:latin typeface="Arial"/>
                <a:cs typeface="Arial"/>
              </a:rPr>
              <a:t> </a:t>
            </a:r>
            <a:r>
              <a:rPr sz="1800" dirty="0">
                <a:latin typeface="Arial"/>
                <a:cs typeface="Arial"/>
              </a:rPr>
              <a:t>dataset</a:t>
            </a:r>
            <a:r>
              <a:rPr sz="1800" spc="-85" dirty="0">
                <a:latin typeface="Arial"/>
                <a:cs typeface="Arial"/>
              </a:rPr>
              <a:t> </a:t>
            </a:r>
            <a:r>
              <a:rPr sz="1800" dirty="0">
                <a:latin typeface="Arial"/>
                <a:cs typeface="Arial"/>
              </a:rPr>
              <a:t>structure</a:t>
            </a:r>
            <a:r>
              <a:rPr sz="1800" spc="-10" dirty="0">
                <a:latin typeface="Arial"/>
                <a:cs typeface="Arial"/>
              </a:rPr>
              <a:t> using:</a:t>
            </a:r>
            <a:endParaRPr sz="1800" dirty="0">
              <a:latin typeface="Arial"/>
              <a:cs typeface="Arial"/>
            </a:endParaRPr>
          </a:p>
          <a:p>
            <a:pPr marL="812800" lvl="1" indent="-342900">
              <a:lnSpc>
                <a:spcPct val="100000"/>
              </a:lnSpc>
              <a:spcBef>
                <a:spcPts val="145"/>
              </a:spcBef>
              <a:buChar char="○"/>
              <a:tabLst>
                <a:tab pos="812800" algn="l"/>
              </a:tabLst>
            </a:pPr>
            <a:r>
              <a:rPr sz="1800" spc="-10" dirty="0">
                <a:latin typeface="Arial"/>
                <a:cs typeface="Arial"/>
              </a:rPr>
              <a:t>.info()</a:t>
            </a:r>
            <a:endParaRPr sz="1800" dirty="0">
              <a:latin typeface="Arial"/>
              <a:cs typeface="Arial"/>
            </a:endParaRPr>
          </a:p>
          <a:p>
            <a:pPr marL="812800" lvl="1" indent="-342900">
              <a:lnSpc>
                <a:spcPct val="100000"/>
              </a:lnSpc>
              <a:spcBef>
                <a:spcPts val="295"/>
              </a:spcBef>
              <a:buChar char="○"/>
              <a:tabLst>
                <a:tab pos="812800" algn="l"/>
              </a:tabLst>
            </a:pPr>
            <a:r>
              <a:rPr sz="1800" spc="-10" dirty="0">
                <a:latin typeface="Arial"/>
                <a:cs typeface="Arial"/>
              </a:rPr>
              <a:t>.describe()</a:t>
            </a:r>
            <a:endParaRPr sz="1800" dirty="0">
              <a:latin typeface="Arial"/>
              <a:cs typeface="Arial"/>
            </a:endParaRPr>
          </a:p>
          <a:p>
            <a:pPr marL="812800" lvl="1" indent="-342900">
              <a:lnSpc>
                <a:spcPct val="100000"/>
              </a:lnSpc>
              <a:spcBef>
                <a:spcPts val="1730"/>
              </a:spcBef>
              <a:buChar char="○"/>
              <a:tabLst>
                <a:tab pos="812800" algn="l"/>
              </a:tabLst>
            </a:pPr>
            <a:r>
              <a:rPr sz="1800" spc="-10" dirty="0">
                <a:latin typeface="Arial"/>
                <a:cs typeface="Arial"/>
              </a:rPr>
              <a:t>.isnull()</a:t>
            </a:r>
            <a:endParaRPr sz="1800" dirty="0">
              <a:latin typeface="Arial"/>
              <a:cs typeface="Arial"/>
            </a:endParaRPr>
          </a:p>
          <a:p>
            <a:pPr marL="355600" indent="-342900">
              <a:lnSpc>
                <a:spcPct val="100000"/>
              </a:lnSpc>
              <a:spcBef>
                <a:spcPts val="655"/>
              </a:spcBef>
              <a:buChar char="●"/>
              <a:tabLst>
                <a:tab pos="355600" algn="l"/>
              </a:tabLst>
            </a:pPr>
            <a:r>
              <a:rPr sz="1800" dirty="0">
                <a:latin typeface="Arial"/>
                <a:cs typeface="Arial"/>
              </a:rPr>
              <a:t>Handled</a:t>
            </a:r>
            <a:r>
              <a:rPr sz="1800" spc="-45" dirty="0">
                <a:latin typeface="Arial"/>
                <a:cs typeface="Arial"/>
              </a:rPr>
              <a:t> </a:t>
            </a:r>
            <a:r>
              <a:rPr sz="1800" dirty="0">
                <a:latin typeface="Arial"/>
                <a:cs typeface="Arial"/>
              </a:rPr>
              <a:t>missing</a:t>
            </a:r>
            <a:r>
              <a:rPr sz="1800" spc="-45" dirty="0">
                <a:latin typeface="Arial"/>
                <a:cs typeface="Arial"/>
              </a:rPr>
              <a:t> </a:t>
            </a:r>
            <a:r>
              <a:rPr sz="1800" dirty="0">
                <a:latin typeface="Arial"/>
                <a:cs typeface="Arial"/>
              </a:rPr>
              <a:t>values</a:t>
            </a:r>
            <a:r>
              <a:rPr sz="1800" spc="-15" dirty="0">
                <a:latin typeface="Arial"/>
                <a:cs typeface="Arial"/>
              </a:rPr>
              <a:t> </a:t>
            </a:r>
            <a:r>
              <a:rPr sz="1800" spc="-10" dirty="0">
                <a:latin typeface="Arial"/>
                <a:cs typeface="Arial"/>
              </a:rPr>
              <a:t>using:</a:t>
            </a:r>
            <a:endParaRPr sz="1800" dirty="0">
              <a:latin typeface="Arial"/>
              <a:cs typeface="Arial"/>
            </a:endParaRPr>
          </a:p>
          <a:p>
            <a:pPr marL="812800" lvl="1" indent="-342900">
              <a:lnSpc>
                <a:spcPct val="100000"/>
              </a:lnSpc>
              <a:spcBef>
                <a:spcPts val="5"/>
              </a:spcBef>
              <a:buChar char="○"/>
              <a:tabLst>
                <a:tab pos="812800" algn="l"/>
              </a:tabLst>
            </a:pPr>
            <a:r>
              <a:rPr sz="1800" dirty="0">
                <a:latin typeface="Arial"/>
                <a:cs typeface="Arial"/>
              </a:rPr>
              <a:t>Median,</a:t>
            </a:r>
            <a:r>
              <a:rPr sz="1800" spc="-50" dirty="0">
                <a:latin typeface="Arial"/>
                <a:cs typeface="Arial"/>
              </a:rPr>
              <a:t> </a:t>
            </a:r>
            <a:r>
              <a:rPr sz="1800" dirty="0">
                <a:latin typeface="Arial"/>
                <a:cs typeface="Arial"/>
              </a:rPr>
              <a:t>Mean,</a:t>
            </a:r>
            <a:r>
              <a:rPr sz="1800" spc="-45" dirty="0">
                <a:latin typeface="Arial"/>
                <a:cs typeface="Arial"/>
              </a:rPr>
              <a:t> </a:t>
            </a:r>
            <a:r>
              <a:rPr sz="1800" spc="-20" dirty="0">
                <a:latin typeface="Arial"/>
                <a:cs typeface="Arial"/>
              </a:rPr>
              <a:t>Mode</a:t>
            </a:r>
            <a:endParaRPr sz="1800" dirty="0">
              <a:latin typeface="Arial"/>
              <a:cs typeface="Arial"/>
            </a:endParaRPr>
          </a:p>
          <a:p>
            <a:pPr lvl="1">
              <a:lnSpc>
                <a:spcPct val="100000"/>
              </a:lnSpc>
              <a:spcBef>
                <a:spcPts val="525"/>
              </a:spcBef>
              <a:buFont typeface="Arial"/>
              <a:buChar char="○"/>
            </a:pPr>
            <a:endParaRPr sz="1800" dirty="0">
              <a:latin typeface="Arial"/>
              <a:cs typeface="Arial"/>
            </a:endParaRPr>
          </a:p>
          <a:p>
            <a:pPr marL="355600" indent="-342900">
              <a:lnSpc>
                <a:spcPct val="100000"/>
              </a:lnSpc>
              <a:buChar char="●"/>
              <a:tabLst>
                <a:tab pos="355600" algn="l"/>
              </a:tabLst>
            </a:pPr>
            <a:r>
              <a:rPr sz="1800" dirty="0">
                <a:latin typeface="Arial"/>
                <a:cs typeface="Arial"/>
              </a:rPr>
              <a:t>Removed</a:t>
            </a:r>
            <a:r>
              <a:rPr sz="1800" spc="-40" dirty="0">
                <a:latin typeface="Arial"/>
                <a:cs typeface="Arial"/>
              </a:rPr>
              <a:t> </a:t>
            </a:r>
            <a:r>
              <a:rPr sz="1800" dirty="0">
                <a:latin typeface="Arial"/>
                <a:cs typeface="Arial"/>
              </a:rPr>
              <a:t>duplicate</a:t>
            </a:r>
            <a:r>
              <a:rPr sz="1800" spc="-40" dirty="0">
                <a:latin typeface="Arial"/>
                <a:cs typeface="Arial"/>
              </a:rPr>
              <a:t> </a:t>
            </a:r>
            <a:r>
              <a:rPr sz="1800" spc="-10" dirty="0">
                <a:latin typeface="Arial"/>
                <a:cs typeface="Arial"/>
              </a:rPr>
              <a:t>records</a:t>
            </a:r>
            <a:endParaRPr sz="1800" dirty="0">
              <a:latin typeface="Arial"/>
              <a:cs typeface="Arial"/>
            </a:endParaRPr>
          </a:p>
          <a:p>
            <a:pPr>
              <a:lnSpc>
                <a:spcPct val="100000"/>
              </a:lnSpc>
              <a:spcBef>
                <a:spcPts val="675"/>
              </a:spcBef>
              <a:buFont typeface="Arial"/>
              <a:buChar char="●"/>
            </a:pPr>
            <a:endParaRPr sz="1800" dirty="0">
              <a:latin typeface="Arial"/>
              <a:cs typeface="Arial"/>
            </a:endParaRPr>
          </a:p>
          <a:p>
            <a:pPr marL="355600" indent="-342900">
              <a:lnSpc>
                <a:spcPct val="100000"/>
              </a:lnSpc>
              <a:spcBef>
                <a:spcPts val="5"/>
              </a:spcBef>
              <a:buChar char="●"/>
              <a:tabLst>
                <a:tab pos="355600" algn="l"/>
              </a:tabLst>
            </a:pPr>
            <a:r>
              <a:rPr sz="1800" dirty="0">
                <a:latin typeface="Arial"/>
                <a:cs typeface="Arial"/>
              </a:rPr>
              <a:t>Converted</a:t>
            </a:r>
            <a:r>
              <a:rPr sz="1800" spc="-40" dirty="0">
                <a:latin typeface="Arial"/>
                <a:cs typeface="Arial"/>
              </a:rPr>
              <a:t> </a:t>
            </a:r>
            <a:r>
              <a:rPr sz="1800" dirty="0">
                <a:latin typeface="Arial"/>
                <a:cs typeface="Arial"/>
              </a:rPr>
              <a:t>columns</a:t>
            </a:r>
            <a:r>
              <a:rPr sz="1800" spc="-65" dirty="0">
                <a:latin typeface="Arial"/>
                <a:cs typeface="Arial"/>
              </a:rPr>
              <a:t> </a:t>
            </a:r>
            <a:r>
              <a:rPr sz="1800" dirty="0">
                <a:latin typeface="Arial"/>
                <a:cs typeface="Arial"/>
              </a:rPr>
              <a:t>into</a:t>
            </a:r>
            <a:r>
              <a:rPr sz="1800" spc="-90" dirty="0">
                <a:latin typeface="Arial"/>
                <a:cs typeface="Arial"/>
              </a:rPr>
              <a:t> </a:t>
            </a:r>
            <a:r>
              <a:rPr sz="1800" dirty="0">
                <a:latin typeface="Arial"/>
                <a:cs typeface="Arial"/>
              </a:rPr>
              <a:t>proper</a:t>
            </a:r>
            <a:r>
              <a:rPr sz="1800" spc="10" dirty="0">
                <a:latin typeface="Arial"/>
                <a:cs typeface="Arial"/>
              </a:rPr>
              <a:t> </a:t>
            </a:r>
            <a:r>
              <a:rPr sz="1800" dirty="0">
                <a:latin typeface="Arial"/>
                <a:cs typeface="Arial"/>
              </a:rPr>
              <a:t>data</a:t>
            </a:r>
            <a:r>
              <a:rPr sz="1800" spc="-20" dirty="0">
                <a:latin typeface="Arial"/>
                <a:cs typeface="Arial"/>
              </a:rPr>
              <a:t> </a:t>
            </a:r>
            <a:r>
              <a:rPr sz="1800" spc="-10" dirty="0">
                <a:latin typeface="Arial"/>
                <a:cs typeface="Arial"/>
              </a:rPr>
              <a:t>types</a:t>
            </a:r>
            <a:endParaRPr sz="1800" dirty="0">
              <a:latin typeface="Arial"/>
              <a:cs typeface="Arial"/>
            </a:endParaRPr>
          </a:p>
          <a:p>
            <a:pPr>
              <a:lnSpc>
                <a:spcPct val="100000"/>
              </a:lnSpc>
              <a:spcBef>
                <a:spcPts val="95"/>
              </a:spcBef>
              <a:buFont typeface="Arial"/>
              <a:buChar char="●"/>
            </a:pPr>
            <a:endParaRPr sz="1800" dirty="0">
              <a:latin typeface="Arial"/>
              <a:cs typeface="Arial"/>
            </a:endParaRPr>
          </a:p>
          <a:p>
            <a:pPr marL="355600" indent="-342900">
              <a:lnSpc>
                <a:spcPct val="100000"/>
              </a:lnSpc>
              <a:buChar char="●"/>
              <a:tabLst>
                <a:tab pos="355600" algn="l"/>
              </a:tabLst>
            </a:pPr>
            <a:r>
              <a:rPr sz="1800" dirty="0">
                <a:latin typeface="Arial"/>
                <a:cs typeface="Arial"/>
              </a:rPr>
              <a:t>Detected</a:t>
            </a:r>
            <a:r>
              <a:rPr sz="1800" spc="-45" dirty="0">
                <a:latin typeface="Arial"/>
                <a:cs typeface="Arial"/>
              </a:rPr>
              <a:t> </a:t>
            </a:r>
            <a:r>
              <a:rPr sz="1800" dirty="0">
                <a:latin typeface="Arial"/>
                <a:cs typeface="Arial"/>
              </a:rPr>
              <a:t>outliers</a:t>
            </a:r>
            <a:r>
              <a:rPr sz="1800" spc="-80" dirty="0">
                <a:latin typeface="Arial"/>
                <a:cs typeface="Arial"/>
              </a:rPr>
              <a:t> </a:t>
            </a:r>
            <a:r>
              <a:rPr sz="1800" spc="-10" dirty="0">
                <a:latin typeface="Arial"/>
                <a:cs typeface="Arial"/>
              </a:rPr>
              <a:t>using:</a:t>
            </a:r>
            <a:endParaRPr sz="1800" dirty="0">
              <a:latin typeface="Arial"/>
              <a:cs typeface="Arial"/>
            </a:endParaRPr>
          </a:p>
          <a:p>
            <a:pPr marL="812800" lvl="1" indent="-342900">
              <a:lnSpc>
                <a:spcPct val="100000"/>
              </a:lnSpc>
              <a:spcBef>
                <a:spcPts val="5"/>
              </a:spcBef>
              <a:buChar char="○"/>
              <a:tabLst>
                <a:tab pos="812800" algn="l"/>
              </a:tabLst>
            </a:pPr>
            <a:r>
              <a:rPr sz="1800" spc="-10" dirty="0">
                <a:latin typeface="Arial"/>
                <a:cs typeface="Arial"/>
              </a:rPr>
              <a:t>Z-</a:t>
            </a:r>
            <a:r>
              <a:rPr sz="1800" dirty="0">
                <a:latin typeface="Arial"/>
                <a:cs typeface="Arial"/>
              </a:rPr>
              <a:t>Score</a:t>
            </a:r>
            <a:r>
              <a:rPr sz="1800" spc="-35" dirty="0">
                <a:latin typeface="Arial"/>
                <a:cs typeface="Arial"/>
              </a:rPr>
              <a:t> </a:t>
            </a:r>
            <a:r>
              <a:rPr sz="1800" spc="-10" dirty="0">
                <a:latin typeface="Arial"/>
                <a:cs typeface="Arial"/>
              </a:rPr>
              <a:t>Method</a:t>
            </a:r>
            <a:endParaRPr sz="1800" dirty="0">
              <a:latin typeface="Arial"/>
              <a:cs typeface="Arial"/>
            </a:endParaRPr>
          </a:p>
          <a:p>
            <a:pPr marL="812800" lvl="1" indent="-342900">
              <a:lnSpc>
                <a:spcPct val="100000"/>
              </a:lnSpc>
              <a:buChar char="○"/>
              <a:tabLst>
                <a:tab pos="812800" algn="l"/>
              </a:tabLst>
            </a:pPr>
            <a:r>
              <a:rPr sz="1800" dirty="0">
                <a:latin typeface="Arial"/>
                <a:cs typeface="Arial"/>
              </a:rPr>
              <a:t>IQR</a:t>
            </a:r>
            <a:r>
              <a:rPr sz="1800" spc="-35" dirty="0">
                <a:latin typeface="Arial"/>
                <a:cs typeface="Arial"/>
              </a:rPr>
              <a:t> </a:t>
            </a:r>
            <a:r>
              <a:rPr sz="1800" spc="-10" dirty="0">
                <a:latin typeface="Arial"/>
                <a:cs typeface="Arial"/>
              </a:rPr>
              <a:t>Method</a:t>
            </a:r>
            <a:endParaRPr sz="1800" dirty="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66661" rIns="0" bIns="0" rtlCol="0">
            <a:spAutoFit/>
          </a:bodyPr>
          <a:lstStyle/>
          <a:p>
            <a:pPr marL="253365">
              <a:lnSpc>
                <a:spcPct val="100000"/>
              </a:lnSpc>
              <a:spcBef>
                <a:spcPts val="110"/>
              </a:spcBef>
            </a:pPr>
            <a:r>
              <a:rPr sz="2800" b="0" dirty="0">
                <a:solidFill>
                  <a:srgbClr val="000000"/>
                </a:solidFill>
                <a:latin typeface="Arial"/>
                <a:cs typeface="Arial"/>
              </a:rPr>
              <a:t>Feature</a:t>
            </a:r>
            <a:r>
              <a:rPr sz="2800" b="0" spc="-85" dirty="0">
                <a:solidFill>
                  <a:srgbClr val="000000"/>
                </a:solidFill>
                <a:latin typeface="Arial"/>
                <a:cs typeface="Arial"/>
              </a:rPr>
              <a:t> </a:t>
            </a:r>
            <a:r>
              <a:rPr sz="2800" b="0" spc="-10" dirty="0">
                <a:solidFill>
                  <a:srgbClr val="000000"/>
                </a:solidFill>
                <a:latin typeface="Arial"/>
                <a:cs typeface="Arial"/>
              </a:rPr>
              <a:t>Engineering</a:t>
            </a:r>
            <a:endParaRPr sz="2800">
              <a:latin typeface="Arial"/>
              <a:cs typeface="Arial"/>
            </a:endParaRPr>
          </a:p>
        </p:txBody>
      </p:sp>
      <p:sp>
        <p:nvSpPr>
          <p:cNvPr id="3" name="object 3"/>
          <p:cNvSpPr txBox="1"/>
          <p:nvPr/>
        </p:nvSpPr>
        <p:spPr>
          <a:xfrm>
            <a:off x="609600" y="1524000"/>
            <a:ext cx="10744200" cy="4673331"/>
          </a:xfrm>
          <a:prstGeom prst="rect">
            <a:avLst/>
          </a:prstGeom>
        </p:spPr>
        <p:txBody>
          <a:bodyPr vert="horz" wrap="square" lIns="0" tIns="12700" rIns="0" bIns="0" rtlCol="0">
            <a:spAutoFit/>
          </a:bodyPr>
          <a:lstStyle/>
          <a:p>
            <a:pPr>
              <a:lnSpc>
                <a:spcPct val="150000"/>
              </a:lnSpc>
            </a:pPr>
            <a:r>
              <a:rPr lang="en-IN" sz="1700" b="1" dirty="0"/>
              <a:t>New Features Created:</a:t>
            </a:r>
          </a:p>
          <a:p>
            <a:pPr>
              <a:lnSpc>
                <a:spcPct val="150000"/>
              </a:lnSpc>
            </a:pPr>
            <a:r>
              <a:rPr lang="en-IN" sz="1700" b="1" dirty="0"/>
              <a:t>1. Price Category</a:t>
            </a:r>
            <a:endParaRPr lang="en-IN" sz="1700" dirty="0"/>
          </a:p>
          <a:p>
            <a:pPr lvl="0">
              <a:lnSpc>
                <a:spcPct val="150000"/>
              </a:lnSpc>
            </a:pPr>
            <a:r>
              <a:rPr lang="en-IN" sz="1700" dirty="0"/>
              <a:t>Categorized properties based on their listed price.</a:t>
            </a:r>
          </a:p>
          <a:p>
            <a:pPr lvl="0">
              <a:lnSpc>
                <a:spcPct val="150000"/>
              </a:lnSpc>
            </a:pPr>
            <a:r>
              <a:rPr lang="en-IN" sz="1700" dirty="0"/>
              <a:t>Categories: Budget (₹0–50 Lakhs), Mid-Range (₹50 Lakhs–1 Crore), Premium (₹1–2 Crores), </a:t>
            </a:r>
          </a:p>
          <a:p>
            <a:pPr lvl="0">
              <a:lnSpc>
                <a:spcPct val="150000"/>
              </a:lnSpc>
            </a:pPr>
            <a:r>
              <a:rPr lang="en-IN" sz="1700" dirty="0"/>
              <a:t>Luxury (Above ₹2 Crores).</a:t>
            </a:r>
          </a:p>
          <a:p>
            <a:pPr lvl="0">
              <a:lnSpc>
                <a:spcPct val="150000"/>
              </a:lnSpc>
            </a:pPr>
            <a:r>
              <a:rPr lang="en-IN" sz="1700" dirty="0"/>
              <a:t>Used to compare properties across different price segments.</a:t>
            </a:r>
          </a:p>
          <a:p>
            <a:pPr>
              <a:lnSpc>
                <a:spcPct val="150000"/>
              </a:lnSpc>
            </a:pPr>
            <a:r>
              <a:rPr lang="en-IN" sz="1700" b="1" dirty="0"/>
              <a:t>2. Area Category</a:t>
            </a:r>
            <a:endParaRPr lang="en-IN" sz="1700" dirty="0"/>
          </a:p>
          <a:p>
            <a:pPr lvl="0">
              <a:lnSpc>
                <a:spcPct val="150000"/>
              </a:lnSpc>
            </a:pPr>
            <a:r>
              <a:rPr lang="en-IN" sz="1700" dirty="0"/>
              <a:t>Grouped properties based on their area in square feet.</a:t>
            </a:r>
          </a:p>
          <a:p>
            <a:pPr lvl="0">
              <a:lnSpc>
                <a:spcPct val="150000"/>
              </a:lnSpc>
            </a:pPr>
            <a:r>
              <a:rPr lang="en-IN" sz="1700" dirty="0"/>
              <a:t>Helps compare small, medium, and large residential properties.</a:t>
            </a:r>
          </a:p>
          <a:p>
            <a:pPr>
              <a:lnSpc>
                <a:spcPct val="150000"/>
              </a:lnSpc>
            </a:pPr>
            <a:r>
              <a:rPr lang="en-IN" sz="1700" b="1" dirty="0"/>
              <a:t>3. Project Completion Status</a:t>
            </a:r>
            <a:endParaRPr lang="en-IN" sz="1700" dirty="0"/>
          </a:p>
          <a:p>
            <a:pPr lvl="0">
              <a:lnSpc>
                <a:spcPct val="150000"/>
              </a:lnSpc>
            </a:pPr>
            <a:r>
              <a:rPr lang="en-IN" sz="1700" dirty="0"/>
              <a:t>Used project status and completion date to understand project availability and construction progress.</a:t>
            </a:r>
          </a:p>
          <a:p>
            <a:pPr>
              <a:lnSpc>
                <a:spcPct val="150000"/>
              </a:lnSpc>
            </a:pPr>
            <a:endParaRPr lang="en-US" sz="1700" dirty="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66661" rIns="0" bIns="0" rtlCol="0">
            <a:spAutoFit/>
          </a:bodyPr>
          <a:lstStyle/>
          <a:p>
            <a:pPr marL="38100">
              <a:lnSpc>
                <a:spcPct val="100000"/>
              </a:lnSpc>
              <a:spcBef>
                <a:spcPts val="110"/>
              </a:spcBef>
            </a:pPr>
            <a:r>
              <a:rPr sz="2800" b="0" dirty="0">
                <a:solidFill>
                  <a:srgbClr val="000000"/>
                </a:solidFill>
                <a:latin typeface="Arial"/>
                <a:cs typeface="Arial"/>
              </a:rPr>
              <a:t>Univariate</a:t>
            </a:r>
            <a:r>
              <a:rPr sz="2800" b="0" spc="-105" dirty="0">
                <a:solidFill>
                  <a:srgbClr val="000000"/>
                </a:solidFill>
                <a:latin typeface="Arial"/>
                <a:cs typeface="Arial"/>
              </a:rPr>
              <a:t> </a:t>
            </a:r>
            <a:r>
              <a:rPr sz="2800" b="0" spc="-10" dirty="0">
                <a:solidFill>
                  <a:srgbClr val="000000"/>
                </a:solidFill>
                <a:latin typeface="Arial"/>
                <a:cs typeface="Arial"/>
              </a:rPr>
              <a:t>Analysis</a:t>
            </a:r>
            <a:endParaRPr sz="2800">
              <a:latin typeface="Arial"/>
              <a:cs typeface="Arial"/>
            </a:endParaRPr>
          </a:p>
        </p:txBody>
      </p:sp>
      <p:sp>
        <p:nvSpPr>
          <p:cNvPr id="4" name="object 4"/>
          <p:cNvSpPr txBox="1"/>
          <p:nvPr/>
        </p:nvSpPr>
        <p:spPr>
          <a:xfrm>
            <a:off x="304800" y="1444942"/>
            <a:ext cx="5105400" cy="5681684"/>
          </a:xfrm>
          <a:prstGeom prst="rect">
            <a:avLst/>
          </a:prstGeom>
        </p:spPr>
        <p:txBody>
          <a:bodyPr vert="horz" wrap="square" lIns="0" tIns="13335" rIns="0" bIns="0" rtlCol="0">
            <a:spAutoFit/>
          </a:bodyPr>
          <a:lstStyle/>
          <a:p>
            <a:pPr marL="12700">
              <a:lnSpc>
                <a:spcPct val="150000"/>
              </a:lnSpc>
              <a:spcBef>
                <a:spcPts val="105"/>
              </a:spcBef>
            </a:pPr>
            <a:r>
              <a:rPr lang="en-IN" b="1" dirty="0"/>
              <a:t>Numerical vs Numerical </a:t>
            </a:r>
          </a:p>
          <a:p>
            <a:pPr marL="12700">
              <a:lnSpc>
                <a:spcPct val="150000"/>
              </a:lnSpc>
              <a:spcBef>
                <a:spcPts val="105"/>
              </a:spcBef>
            </a:pPr>
            <a:r>
              <a:rPr lang="en-IN" b="1" dirty="0"/>
              <a:t>Key Findings</a:t>
            </a:r>
          </a:p>
          <a:p>
            <a:pPr marL="285750" lvl="0" indent="-285750">
              <a:lnSpc>
                <a:spcPct val="150000"/>
              </a:lnSpc>
              <a:buFont typeface="Arial" panose="020B0604020202020204" pitchFamily="34" charset="0"/>
              <a:buChar char="•"/>
            </a:pPr>
            <a:r>
              <a:rPr lang="en-IN" sz="1400" dirty="0"/>
              <a:t>Property prices vary across different locations in Hyderabad.</a:t>
            </a:r>
          </a:p>
          <a:p>
            <a:pPr marL="285750" lvl="0" indent="-285750">
              <a:lnSpc>
                <a:spcPct val="150000"/>
              </a:lnSpc>
              <a:buFont typeface="Arial" panose="020B0604020202020204" pitchFamily="34" charset="0"/>
              <a:buChar char="•"/>
            </a:pPr>
            <a:r>
              <a:rPr lang="en-IN" sz="1400" dirty="0"/>
              <a:t>Property sizes differ based on the type of residential property.</a:t>
            </a:r>
          </a:p>
          <a:p>
            <a:pPr marL="285750" lvl="0" indent="-285750">
              <a:lnSpc>
                <a:spcPct val="150000"/>
              </a:lnSpc>
              <a:buFont typeface="Arial" panose="020B0604020202020204" pitchFamily="34" charset="0"/>
              <a:buChar char="•"/>
            </a:pPr>
            <a:r>
              <a:rPr lang="en-IN" sz="1400" dirty="0"/>
              <a:t>Different BHK configurations are available to meet buyers’ needs.</a:t>
            </a:r>
          </a:p>
          <a:p>
            <a:pPr marL="285750" lvl="0" indent="-285750">
              <a:lnSpc>
                <a:spcPct val="150000"/>
              </a:lnSpc>
              <a:buFont typeface="Arial" panose="020B0604020202020204" pitchFamily="34" charset="0"/>
              <a:buChar char="•"/>
            </a:pPr>
            <a:r>
              <a:rPr lang="en-IN" sz="1400" dirty="0"/>
              <a:t>Larger properties and higher BHK configurations may have higher prices.</a:t>
            </a:r>
          </a:p>
          <a:p>
            <a:pPr marL="285750" lvl="0" indent="-285750">
              <a:lnSpc>
                <a:spcPct val="150000"/>
              </a:lnSpc>
              <a:buFont typeface="Arial" panose="020B0604020202020204" pitchFamily="34" charset="0"/>
              <a:buChar char="•"/>
            </a:pPr>
            <a:r>
              <a:rPr lang="en-IN" sz="1400" dirty="0"/>
              <a:t>Outliers indicate a few properties with unusually high prices or larger areas.</a:t>
            </a:r>
          </a:p>
          <a:p>
            <a:pPr marL="285750" lvl="0" indent="-285750">
              <a:lnSpc>
                <a:spcPct val="150000"/>
              </a:lnSpc>
              <a:buFont typeface="Arial" panose="020B0604020202020204" pitchFamily="34" charset="0"/>
              <a:buChar char="•"/>
            </a:pPr>
            <a:r>
              <a:rPr lang="en-IN" sz="1400" dirty="0"/>
              <a:t>The analysis helps identify property price patterns, size variations, and popular residential configurations.</a:t>
            </a:r>
          </a:p>
          <a:p>
            <a:pPr marL="285750" lvl="0" indent="-285750">
              <a:lnSpc>
                <a:spcPct val="150000"/>
              </a:lnSpc>
              <a:buFont typeface="Arial" panose="020B0604020202020204" pitchFamily="34" charset="0"/>
              <a:buChar char="•"/>
            </a:pPr>
            <a:r>
              <a:rPr lang="en-IN" sz="1400" dirty="0"/>
              <a:t>Overall, the findings help buyers compare properties and make informed purchasing decisions.</a:t>
            </a:r>
          </a:p>
          <a:p>
            <a:pPr marL="12700">
              <a:lnSpc>
                <a:spcPct val="100000"/>
              </a:lnSpc>
              <a:spcBef>
                <a:spcPts val="2680"/>
              </a:spcBef>
            </a:pPr>
            <a:endParaRPr sz="1800" dirty="0">
              <a:latin typeface="Arial"/>
              <a:cs typeface="Arial"/>
            </a:endParaRPr>
          </a:p>
        </p:txBody>
      </p:sp>
      <p:pic>
        <p:nvPicPr>
          <p:cNvPr id="13" name="Picture 12">
            <a:extLst>
              <a:ext uri="{FF2B5EF4-FFF2-40B4-BE49-F238E27FC236}">
                <a16:creationId xmlns:a16="http://schemas.microsoft.com/office/drawing/2014/main" id="{10C13AE6-865A-38E6-1371-AE000B7487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0" y="457201"/>
            <a:ext cx="6477000" cy="2590800"/>
          </a:xfrm>
          <a:prstGeom prst="rect">
            <a:avLst/>
          </a:prstGeom>
        </p:spPr>
      </p:pic>
      <p:pic>
        <p:nvPicPr>
          <p:cNvPr id="5" name="Picture 4">
            <a:extLst>
              <a:ext uri="{FF2B5EF4-FFF2-40B4-BE49-F238E27FC236}">
                <a16:creationId xmlns:a16="http://schemas.microsoft.com/office/drawing/2014/main" id="{04C340B5-9DA3-A3CA-CC6E-B8AC0D24B6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3200400"/>
            <a:ext cx="6324600" cy="2362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66661" rIns="0" bIns="0" rtlCol="0">
            <a:spAutoFit/>
          </a:bodyPr>
          <a:lstStyle/>
          <a:p>
            <a:pPr marL="38100">
              <a:lnSpc>
                <a:spcPct val="100000"/>
              </a:lnSpc>
              <a:spcBef>
                <a:spcPts val="110"/>
              </a:spcBef>
            </a:pPr>
            <a:r>
              <a:rPr sz="2800" b="0" dirty="0">
                <a:solidFill>
                  <a:srgbClr val="000000"/>
                </a:solidFill>
                <a:latin typeface="Arial"/>
                <a:cs typeface="Arial"/>
              </a:rPr>
              <a:t>Univariate</a:t>
            </a:r>
            <a:r>
              <a:rPr sz="2800" b="0" spc="-105" dirty="0">
                <a:solidFill>
                  <a:srgbClr val="000000"/>
                </a:solidFill>
                <a:latin typeface="Arial"/>
                <a:cs typeface="Arial"/>
              </a:rPr>
              <a:t> </a:t>
            </a:r>
            <a:r>
              <a:rPr sz="2800" b="0" spc="-10" dirty="0">
                <a:solidFill>
                  <a:srgbClr val="000000"/>
                </a:solidFill>
                <a:latin typeface="Arial"/>
                <a:cs typeface="Arial"/>
              </a:rPr>
              <a:t>Analysis</a:t>
            </a:r>
            <a:endParaRPr sz="2800">
              <a:latin typeface="Arial"/>
              <a:cs typeface="Arial"/>
            </a:endParaRPr>
          </a:p>
        </p:txBody>
      </p:sp>
      <p:sp>
        <p:nvSpPr>
          <p:cNvPr id="3" name="object 3"/>
          <p:cNvSpPr txBox="1"/>
          <p:nvPr/>
        </p:nvSpPr>
        <p:spPr>
          <a:xfrm>
            <a:off x="381000" y="1444942"/>
            <a:ext cx="5145557" cy="5150769"/>
          </a:xfrm>
          <a:prstGeom prst="rect">
            <a:avLst/>
          </a:prstGeom>
        </p:spPr>
        <p:txBody>
          <a:bodyPr vert="horz" wrap="square" lIns="0" tIns="13335" rIns="0" bIns="0" rtlCol="0">
            <a:spAutoFit/>
          </a:bodyPr>
          <a:lstStyle/>
          <a:p>
            <a:pPr marL="12700">
              <a:lnSpc>
                <a:spcPct val="100000"/>
              </a:lnSpc>
              <a:spcBef>
                <a:spcPts val="105"/>
              </a:spcBef>
            </a:pPr>
            <a:r>
              <a:rPr sz="2300" b="1" dirty="0">
                <a:latin typeface="Calibri"/>
                <a:cs typeface="Calibri"/>
              </a:rPr>
              <a:t>Categorical</a:t>
            </a:r>
            <a:r>
              <a:rPr sz="2300" b="1" spc="-30" dirty="0">
                <a:latin typeface="Calibri"/>
                <a:cs typeface="Calibri"/>
              </a:rPr>
              <a:t> </a:t>
            </a:r>
            <a:r>
              <a:rPr sz="2300" b="1" spc="-10" dirty="0">
                <a:latin typeface="Calibri"/>
                <a:cs typeface="Calibri"/>
              </a:rPr>
              <a:t>columns</a:t>
            </a:r>
            <a:endParaRPr lang="en-IN" sz="2300" b="1" spc="-10" dirty="0">
              <a:latin typeface="Calibri"/>
              <a:cs typeface="Calibri"/>
            </a:endParaRPr>
          </a:p>
          <a:p>
            <a:pPr marL="12700">
              <a:lnSpc>
                <a:spcPct val="100000"/>
              </a:lnSpc>
              <a:spcBef>
                <a:spcPts val="105"/>
              </a:spcBef>
            </a:pPr>
            <a:endParaRPr sz="2300" dirty="0">
              <a:latin typeface="Calibri"/>
              <a:cs typeface="Calibri"/>
            </a:endParaRPr>
          </a:p>
          <a:p>
            <a:pPr marL="12700">
              <a:lnSpc>
                <a:spcPct val="100000"/>
              </a:lnSpc>
            </a:pPr>
            <a:r>
              <a:rPr sz="1800" b="1" dirty="0">
                <a:latin typeface="Arial"/>
                <a:cs typeface="Arial"/>
              </a:rPr>
              <a:t>Top</a:t>
            </a:r>
            <a:r>
              <a:rPr sz="1800" b="1" spc="-10" dirty="0">
                <a:latin typeface="Arial"/>
                <a:cs typeface="Arial"/>
              </a:rPr>
              <a:t> </a:t>
            </a:r>
            <a:r>
              <a:rPr sz="1800" b="1" dirty="0">
                <a:latin typeface="Arial"/>
                <a:cs typeface="Arial"/>
              </a:rPr>
              <a:t>10</a:t>
            </a:r>
            <a:r>
              <a:rPr sz="1800" b="1" spc="-50" dirty="0">
                <a:latin typeface="Arial"/>
                <a:cs typeface="Arial"/>
              </a:rPr>
              <a:t> </a:t>
            </a:r>
            <a:r>
              <a:rPr sz="1800" b="1" dirty="0">
                <a:latin typeface="Arial"/>
                <a:cs typeface="Arial"/>
              </a:rPr>
              <a:t>Brands</a:t>
            </a:r>
            <a:r>
              <a:rPr sz="1800" b="1" spc="20" dirty="0">
                <a:latin typeface="Arial"/>
                <a:cs typeface="Arial"/>
              </a:rPr>
              <a:t> </a:t>
            </a:r>
            <a:r>
              <a:rPr sz="1800" b="1" spc="-10" dirty="0">
                <a:latin typeface="Arial"/>
                <a:cs typeface="Arial"/>
              </a:rPr>
              <a:t>Analysis</a:t>
            </a:r>
            <a:endParaRPr sz="1800" dirty="0">
              <a:latin typeface="Arial"/>
              <a:cs typeface="Arial"/>
            </a:endParaRPr>
          </a:p>
          <a:p>
            <a:pPr marL="285750" lvl="0" indent="-285750">
              <a:lnSpc>
                <a:spcPct val="150000"/>
              </a:lnSpc>
              <a:buFont typeface="Arial" panose="020B0604020202020204" pitchFamily="34" charset="0"/>
              <a:buChar char="•"/>
            </a:pPr>
            <a:r>
              <a:rPr lang="en-IN" sz="1600" dirty="0"/>
              <a:t>Identified the top 10 residential projects by listing count.</a:t>
            </a:r>
          </a:p>
          <a:p>
            <a:pPr marL="285750" lvl="0" indent="-285750">
              <a:lnSpc>
                <a:spcPct val="150000"/>
              </a:lnSpc>
              <a:buFont typeface="Arial" panose="020B0604020202020204" pitchFamily="34" charset="0"/>
              <a:buChar char="•"/>
            </a:pPr>
            <a:r>
              <a:rPr lang="en-IN" sz="1600" dirty="0"/>
              <a:t>Compared project representation in Hyderabad.</a:t>
            </a:r>
          </a:p>
          <a:p>
            <a:pPr marL="285750" lvl="0" indent="-285750">
              <a:lnSpc>
                <a:spcPct val="150000"/>
              </a:lnSpc>
              <a:buFont typeface="Arial" panose="020B0604020202020204" pitchFamily="34" charset="0"/>
              <a:buChar char="•"/>
            </a:pPr>
            <a:r>
              <a:rPr lang="en-IN" sz="1600" dirty="0"/>
              <a:t>Highlighted projects with the most listings in the dataset.</a:t>
            </a:r>
            <a:endParaRPr sz="1800" dirty="0">
              <a:latin typeface="Arial"/>
              <a:cs typeface="Arial"/>
            </a:endParaRPr>
          </a:p>
          <a:p>
            <a:pPr marL="12700">
              <a:lnSpc>
                <a:spcPct val="100000"/>
              </a:lnSpc>
            </a:pPr>
            <a:r>
              <a:rPr lang="en-IN" sz="1800" b="1" spc="-45" dirty="0">
                <a:latin typeface="Arial"/>
                <a:cs typeface="Arial"/>
              </a:rPr>
              <a:t>Monthly </a:t>
            </a:r>
            <a:r>
              <a:rPr sz="1800" b="1" spc="-10" dirty="0">
                <a:latin typeface="Arial"/>
                <a:cs typeface="Arial"/>
              </a:rPr>
              <a:t>Distribution</a:t>
            </a:r>
            <a:endParaRPr sz="1800" dirty="0">
              <a:latin typeface="Arial"/>
              <a:cs typeface="Arial"/>
            </a:endParaRPr>
          </a:p>
          <a:p>
            <a:pPr marL="469900" marR="5080" lvl="1" indent="-343535">
              <a:lnSpc>
                <a:spcPct val="150200"/>
              </a:lnSpc>
              <a:spcBef>
                <a:spcPts val="1015"/>
              </a:spcBef>
              <a:buChar char="●"/>
              <a:tabLst>
                <a:tab pos="469900" algn="l"/>
              </a:tabLst>
            </a:pPr>
            <a:r>
              <a:rPr lang="en-US" sz="1600" dirty="0">
                <a:latin typeface="Arial"/>
                <a:cs typeface="Arial"/>
              </a:rPr>
              <a:t>The “Others” category dominates with 40.4%, followed by December (18.2%) and October (12%). The distribution highlights the dominance of a few categories, while the remaining categories contribute smaller shares.</a:t>
            </a:r>
            <a:endParaRPr dirty="0">
              <a:latin typeface="Arial"/>
              <a:cs typeface="Arial"/>
            </a:endParaRPr>
          </a:p>
        </p:txBody>
      </p:sp>
      <p:pic>
        <p:nvPicPr>
          <p:cNvPr id="7" name="Picture 6">
            <a:extLst>
              <a:ext uri="{FF2B5EF4-FFF2-40B4-BE49-F238E27FC236}">
                <a16:creationId xmlns:a16="http://schemas.microsoft.com/office/drawing/2014/main" id="{5F531885-4111-F9EA-7934-3C1DE9A7BD02}"/>
              </a:ext>
            </a:extLst>
          </p:cNvPr>
          <p:cNvPicPr>
            <a:picLocks noChangeAspect="1"/>
          </p:cNvPicPr>
          <p:nvPr/>
        </p:nvPicPr>
        <p:blipFill>
          <a:blip r:embed="rId2"/>
          <a:stretch>
            <a:fillRect/>
          </a:stretch>
        </p:blipFill>
        <p:spPr>
          <a:xfrm>
            <a:off x="6665445" y="3749964"/>
            <a:ext cx="3429000" cy="2574636"/>
          </a:xfrm>
          <a:prstGeom prst="rect">
            <a:avLst/>
          </a:prstGeom>
        </p:spPr>
      </p:pic>
      <p:pic>
        <p:nvPicPr>
          <p:cNvPr id="9" name="Picture 8">
            <a:extLst>
              <a:ext uri="{FF2B5EF4-FFF2-40B4-BE49-F238E27FC236}">
                <a16:creationId xmlns:a16="http://schemas.microsoft.com/office/drawing/2014/main" id="{A4A015C5-C75E-2961-F801-1FEADF468C4B}"/>
              </a:ext>
            </a:extLst>
          </p:cNvPr>
          <p:cNvPicPr>
            <a:picLocks noChangeAspect="1"/>
          </p:cNvPicPr>
          <p:nvPr/>
        </p:nvPicPr>
        <p:blipFill>
          <a:blip r:embed="rId3"/>
          <a:stretch>
            <a:fillRect/>
          </a:stretch>
        </p:blipFill>
        <p:spPr>
          <a:xfrm>
            <a:off x="5526556" y="289169"/>
            <a:ext cx="5978781" cy="3124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66661" rIns="0" bIns="0" rtlCol="0">
            <a:spAutoFit/>
          </a:bodyPr>
          <a:lstStyle/>
          <a:p>
            <a:pPr marL="38100">
              <a:lnSpc>
                <a:spcPct val="100000"/>
              </a:lnSpc>
              <a:spcBef>
                <a:spcPts val="110"/>
              </a:spcBef>
            </a:pPr>
            <a:r>
              <a:rPr sz="2800" b="0" dirty="0">
                <a:solidFill>
                  <a:srgbClr val="000000"/>
                </a:solidFill>
                <a:latin typeface="Arial"/>
                <a:cs typeface="Arial"/>
              </a:rPr>
              <a:t>Bivariate</a:t>
            </a:r>
            <a:r>
              <a:rPr sz="2800" b="0" spc="-100" dirty="0">
                <a:solidFill>
                  <a:srgbClr val="000000"/>
                </a:solidFill>
                <a:latin typeface="Arial"/>
                <a:cs typeface="Arial"/>
              </a:rPr>
              <a:t> </a:t>
            </a:r>
            <a:r>
              <a:rPr sz="2800" b="0" spc="-10" dirty="0">
                <a:solidFill>
                  <a:srgbClr val="000000"/>
                </a:solidFill>
                <a:latin typeface="Arial"/>
                <a:cs typeface="Arial"/>
              </a:rPr>
              <a:t>Analysis</a:t>
            </a:r>
            <a:endParaRPr sz="2800">
              <a:latin typeface="Arial"/>
              <a:cs typeface="Arial"/>
            </a:endParaRPr>
          </a:p>
        </p:txBody>
      </p:sp>
      <p:sp>
        <p:nvSpPr>
          <p:cNvPr id="3" name="object 3"/>
          <p:cNvSpPr txBox="1"/>
          <p:nvPr/>
        </p:nvSpPr>
        <p:spPr>
          <a:xfrm>
            <a:off x="833907" y="1298384"/>
            <a:ext cx="2843530" cy="377190"/>
          </a:xfrm>
          <a:prstGeom prst="rect">
            <a:avLst/>
          </a:prstGeom>
        </p:spPr>
        <p:txBody>
          <a:bodyPr vert="horz" wrap="square" lIns="0" tIns="13335" rIns="0" bIns="0" rtlCol="0">
            <a:spAutoFit/>
          </a:bodyPr>
          <a:lstStyle/>
          <a:p>
            <a:pPr marL="12700">
              <a:lnSpc>
                <a:spcPct val="100000"/>
              </a:lnSpc>
              <a:spcBef>
                <a:spcPts val="105"/>
              </a:spcBef>
            </a:pPr>
            <a:r>
              <a:rPr sz="2300" dirty="0">
                <a:latin typeface="Calibri"/>
                <a:cs typeface="Calibri"/>
              </a:rPr>
              <a:t>Numerical</a:t>
            </a:r>
            <a:r>
              <a:rPr sz="2300" spc="-25" dirty="0">
                <a:latin typeface="Calibri"/>
                <a:cs typeface="Calibri"/>
              </a:rPr>
              <a:t> </a:t>
            </a:r>
            <a:r>
              <a:rPr sz="2300" dirty="0">
                <a:latin typeface="Calibri"/>
                <a:cs typeface="Calibri"/>
              </a:rPr>
              <a:t>vs</a:t>
            </a:r>
            <a:r>
              <a:rPr sz="2300" spc="-35" dirty="0">
                <a:latin typeface="Calibri"/>
                <a:cs typeface="Calibri"/>
              </a:rPr>
              <a:t> </a:t>
            </a:r>
            <a:r>
              <a:rPr sz="2300" spc="-10" dirty="0">
                <a:latin typeface="Calibri"/>
                <a:cs typeface="Calibri"/>
              </a:rPr>
              <a:t>Numerical</a:t>
            </a:r>
            <a:endParaRPr sz="2300">
              <a:latin typeface="Calibri"/>
              <a:cs typeface="Calibri"/>
            </a:endParaRPr>
          </a:p>
        </p:txBody>
      </p:sp>
      <p:sp>
        <p:nvSpPr>
          <p:cNvPr id="7" name="object 7"/>
          <p:cNvSpPr txBox="1"/>
          <p:nvPr/>
        </p:nvSpPr>
        <p:spPr>
          <a:xfrm>
            <a:off x="1177594" y="5204714"/>
            <a:ext cx="8749665" cy="857286"/>
          </a:xfrm>
          <a:prstGeom prst="rect">
            <a:avLst/>
          </a:prstGeom>
        </p:spPr>
        <p:txBody>
          <a:bodyPr vert="horz" wrap="square" lIns="0" tIns="13335" rIns="0" bIns="0" rtlCol="0">
            <a:spAutoFit/>
          </a:bodyPr>
          <a:lstStyle/>
          <a:p>
            <a:pPr marL="285750" lvl="0" indent="-285750">
              <a:buFont typeface="Arial" panose="020B0604020202020204" pitchFamily="34" charset="0"/>
              <a:buChar char="•"/>
            </a:pPr>
            <a:r>
              <a:rPr lang="en-IN" dirty="0"/>
              <a:t>Examines the relationship between project completion dates and property sizes.</a:t>
            </a:r>
          </a:p>
          <a:p>
            <a:pPr marL="285750" lvl="0" indent="-285750">
              <a:buFont typeface="Arial" panose="020B0604020202020204" pitchFamily="34" charset="0"/>
              <a:buChar char="•"/>
            </a:pPr>
            <a:r>
              <a:rPr lang="en-IN" dirty="0"/>
              <a:t>Shows how property area varies across different completion timelines.</a:t>
            </a:r>
          </a:p>
          <a:p>
            <a:pPr marL="355600" indent="-342900">
              <a:lnSpc>
                <a:spcPct val="100000"/>
              </a:lnSpc>
              <a:spcBef>
                <a:spcPts val="105"/>
              </a:spcBef>
              <a:buChar char="●"/>
              <a:tabLst>
                <a:tab pos="355600" algn="l"/>
              </a:tabLst>
            </a:pPr>
            <a:endParaRPr sz="1800" dirty="0">
              <a:latin typeface="Arial"/>
              <a:cs typeface="Arial"/>
            </a:endParaRPr>
          </a:p>
        </p:txBody>
      </p:sp>
      <p:pic>
        <p:nvPicPr>
          <p:cNvPr id="9" name="Picture 8">
            <a:extLst>
              <a:ext uri="{FF2B5EF4-FFF2-40B4-BE49-F238E27FC236}">
                <a16:creationId xmlns:a16="http://schemas.microsoft.com/office/drawing/2014/main" id="{A52AD864-F341-F29C-5B0C-C1EE3326E9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709" y="1943100"/>
            <a:ext cx="4648200" cy="2971800"/>
          </a:xfrm>
          <a:prstGeom prst="rect">
            <a:avLst/>
          </a:prstGeom>
        </p:spPr>
      </p:pic>
      <p:pic>
        <p:nvPicPr>
          <p:cNvPr id="11" name="Picture 10">
            <a:extLst>
              <a:ext uri="{FF2B5EF4-FFF2-40B4-BE49-F238E27FC236}">
                <a16:creationId xmlns:a16="http://schemas.microsoft.com/office/drawing/2014/main" id="{3A1F3442-AE71-D51A-DD25-E707A4E97E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00" y="1828800"/>
            <a:ext cx="5867400" cy="2971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66661" rIns="0" bIns="0" rtlCol="0">
            <a:spAutoFit/>
          </a:bodyPr>
          <a:lstStyle/>
          <a:p>
            <a:pPr marL="38100">
              <a:lnSpc>
                <a:spcPct val="100000"/>
              </a:lnSpc>
              <a:spcBef>
                <a:spcPts val="110"/>
              </a:spcBef>
            </a:pPr>
            <a:r>
              <a:rPr sz="2800" b="0" dirty="0">
                <a:solidFill>
                  <a:srgbClr val="000000"/>
                </a:solidFill>
                <a:latin typeface="Arial"/>
                <a:cs typeface="Arial"/>
              </a:rPr>
              <a:t>Bivariate</a:t>
            </a:r>
            <a:r>
              <a:rPr sz="2800" b="0" spc="-100" dirty="0">
                <a:solidFill>
                  <a:srgbClr val="000000"/>
                </a:solidFill>
                <a:latin typeface="Arial"/>
                <a:cs typeface="Arial"/>
              </a:rPr>
              <a:t> </a:t>
            </a:r>
            <a:r>
              <a:rPr sz="2800" b="0" spc="-10" dirty="0">
                <a:solidFill>
                  <a:srgbClr val="000000"/>
                </a:solidFill>
                <a:latin typeface="Arial"/>
                <a:cs typeface="Arial"/>
              </a:rPr>
              <a:t>Analysis</a:t>
            </a:r>
            <a:endParaRPr sz="2800">
              <a:latin typeface="Arial"/>
              <a:cs typeface="Arial"/>
            </a:endParaRPr>
          </a:p>
        </p:txBody>
      </p:sp>
      <p:sp>
        <p:nvSpPr>
          <p:cNvPr id="3" name="object 3"/>
          <p:cNvSpPr txBox="1"/>
          <p:nvPr/>
        </p:nvSpPr>
        <p:spPr>
          <a:xfrm>
            <a:off x="900760" y="1298384"/>
            <a:ext cx="2954020" cy="377190"/>
          </a:xfrm>
          <a:prstGeom prst="rect">
            <a:avLst/>
          </a:prstGeom>
        </p:spPr>
        <p:txBody>
          <a:bodyPr vert="horz" wrap="square" lIns="0" tIns="13335" rIns="0" bIns="0" rtlCol="0">
            <a:spAutoFit/>
          </a:bodyPr>
          <a:lstStyle/>
          <a:p>
            <a:pPr marL="12700">
              <a:lnSpc>
                <a:spcPct val="100000"/>
              </a:lnSpc>
              <a:spcBef>
                <a:spcPts val="105"/>
              </a:spcBef>
            </a:pPr>
            <a:r>
              <a:rPr sz="2300" dirty="0">
                <a:latin typeface="Calibri"/>
                <a:cs typeface="Calibri"/>
              </a:rPr>
              <a:t>Categorical</a:t>
            </a:r>
            <a:r>
              <a:rPr sz="2300" spc="-20" dirty="0">
                <a:latin typeface="Calibri"/>
                <a:cs typeface="Calibri"/>
              </a:rPr>
              <a:t> </a:t>
            </a:r>
            <a:r>
              <a:rPr sz="2300" dirty="0">
                <a:latin typeface="Calibri"/>
                <a:cs typeface="Calibri"/>
              </a:rPr>
              <a:t>vs</a:t>
            </a:r>
            <a:r>
              <a:rPr sz="2300" spc="-30" dirty="0">
                <a:latin typeface="Calibri"/>
                <a:cs typeface="Calibri"/>
              </a:rPr>
              <a:t> </a:t>
            </a:r>
            <a:r>
              <a:rPr sz="2300" spc="-10" dirty="0">
                <a:latin typeface="Calibri"/>
                <a:cs typeface="Calibri"/>
              </a:rPr>
              <a:t>Numerical</a:t>
            </a:r>
            <a:endParaRPr sz="2300">
              <a:latin typeface="Calibri"/>
              <a:cs typeface="Calibri"/>
            </a:endParaRPr>
          </a:p>
        </p:txBody>
      </p:sp>
      <p:sp>
        <p:nvSpPr>
          <p:cNvPr id="4" name="object 4"/>
          <p:cNvSpPr txBox="1"/>
          <p:nvPr/>
        </p:nvSpPr>
        <p:spPr>
          <a:xfrm>
            <a:off x="1177594" y="5003927"/>
            <a:ext cx="10123170" cy="1411284"/>
          </a:xfrm>
          <a:prstGeom prst="rect">
            <a:avLst/>
          </a:prstGeom>
        </p:spPr>
        <p:txBody>
          <a:bodyPr vert="horz" wrap="square" lIns="0" tIns="13335" rIns="0" bIns="0" rtlCol="0">
            <a:spAutoFit/>
          </a:bodyPr>
          <a:lstStyle/>
          <a:p>
            <a:pPr marL="285750" indent="-285750">
              <a:buFont typeface="Wingdings" panose="05000000000000000000" pitchFamily="2" charset="2"/>
              <a:buChar char="§"/>
            </a:pPr>
            <a:r>
              <a:rPr lang="en-IN" dirty="0"/>
              <a:t>Analyses how property prices vary across different BHK configurations, highlighting differences in median prices and price distribution.</a:t>
            </a:r>
          </a:p>
          <a:p>
            <a:pPr marL="285750" indent="-285750">
              <a:buFont typeface="Wingdings" panose="05000000000000000000" pitchFamily="2" charset="2"/>
              <a:buChar char="§"/>
            </a:pPr>
            <a:r>
              <a:rPr lang="en-IN" dirty="0"/>
              <a:t>Examines how property sizes vary across project statuses, highlighting differences in median area and the distribution of property sizes.</a:t>
            </a:r>
          </a:p>
          <a:p>
            <a:pPr marL="355600" indent="-342900">
              <a:lnSpc>
                <a:spcPct val="100000"/>
              </a:lnSpc>
              <a:spcBef>
                <a:spcPts val="105"/>
              </a:spcBef>
              <a:buChar char="●"/>
              <a:tabLst>
                <a:tab pos="355600" algn="l"/>
              </a:tabLst>
            </a:pPr>
            <a:endParaRPr sz="1800" dirty="0">
              <a:latin typeface="Arial"/>
              <a:cs typeface="Arial"/>
            </a:endParaRPr>
          </a:p>
        </p:txBody>
      </p:sp>
      <p:pic>
        <p:nvPicPr>
          <p:cNvPr id="8" name="Picture 7">
            <a:extLst>
              <a:ext uri="{FF2B5EF4-FFF2-40B4-BE49-F238E27FC236}">
                <a16:creationId xmlns:a16="http://schemas.microsoft.com/office/drawing/2014/main" id="{8EB6AC17-0AEF-6490-5E2C-9D57435AF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834260"/>
            <a:ext cx="5257800" cy="2966340"/>
          </a:xfrm>
          <a:prstGeom prst="rect">
            <a:avLst/>
          </a:prstGeom>
        </p:spPr>
      </p:pic>
      <p:pic>
        <p:nvPicPr>
          <p:cNvPr id="10" name="Picture 9">
            <a:extLst>
              <a:ext uri="{FF2B5EF4-FFF2-40B4-BE49-F238E27FC236}">
                <a16:creationId xmlns:a16="http://schemas.microsoft.com/office/drawing/2014/main" id="{314E69B7-BEDB-0F64-C24E-464EE5CA1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0600" y="1804952"/>
            <a:ext cx="5791200" cy="29663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66661" rIns="0" bIns="0" rtlCol="0">
            <a:spAutoFit/>
          </a:bodyPr>
          <a:lstStyle/>
          <a:p>
            <a:pPr marL="38100">
              <a:lnSpc>
                <a:spcPct val="100000"/>
              </a:lnSpc>
              <a:spcBef>
                <a:spcPts val="110"/>
              </a:spcBef>
            </a:pPr>
            <a:r>
              <a:rPr sz="2800" b="0" dirty="0">
                <a:solidFill>
                  <a:srgbClr val="000000"/>
                </a:solidFill>
                <a:latin typeface="Arial"/>
                <a:cs typeface="Arial"/>
              </a:rPr>
              <a:t>Bivariate</a:t>
            </a:r>
            <a:r>
              <a:rPr sz="2800" b="0" spc="-100" dirty="0">
                <a:solidFill>
                  <a:srgbClr val="000000"/>
                </a:solidFill>
                <a:latin typeface="Arial"/>
                <a:cs typeface="Arial"/>
              </a:rPr>
              <a:t> </a:t>
            </a:r>
            <a:r>
              <a:rPr sz="2800" b="0" spc="-10" dirty="0">
                <a:solidFill>
                  <a:srgbClr val="000000"/>
                </a:solidFill>
                <a:latin typeface="Arial"/>
                <a:cs typeface="Arial"/>
              </a:rPr>
              <a:t>Analysis</a:t>
            </a:r>
            <a:endParaRPr sz="2800">
              <a:latin typeface="Arial"/>
              <a:cs typeface="Arial"/>
            </a:endParaRPr>
          </a:p>
        </p:txBody>
      </p:sp>
      <p:sp>
        <p:nvSpPr>
          <p:cNvPr id="3" name="object 3"/>
          <p:cNvSpPr txBox="1"/>
          <p:nvPr/>
        </p:nvSpPr>
        <p:spPr>
          <a:xfrm>
            <a:off x="900760" y="1298384"/>
            <a:ext cx="3063875" cy="377190"/>
          </a:xfrm>
          <a:prstGeom prst="rect">
            <a:avLst/>
          </a:prstGeom>
        </p:spPr>
        <p:txBody>
          <a:bodyPr vert="horz" wrap="square" lIns="0" tIns="13335" rIns="0" bIns="0" rtlCol="0">
            <a:spAutoFit/>
          </a:bodyPr>
          <a:lstStyle/>
          <a:p>
            <a:pPr marL="12700">
              <a:lnSpc>
                <a:spcPct val="100000"/>
              </a:lnSpc>
              <a:spcBef>
                <a:spcPts val="105"/>
              </a:spcBef>
            </a:pPr>
            <a:r>
              <a:rPr sz="2300" dirty="0">
                <a:latin typeface="Calibri"/>
                <a:cs typeface="Calibri"/>
              </a:rPr>
              <a:t>Categorical</a:t>
            </a:r>
            <a:r>
              <a:rPr sz="2300" spc="-20" dirty="0">
                <a:latin typeface="Calibri"/>
                <a:cs typeface="Calibri"/>
              </a:rPr>
              <a:t> </a:t>
            </a:r>
            <a:r>
              <a:rPr sz="2300" dirty="0">
                <a:latin typeface="Calibri"/>
                <a:cs typeface="Calibri"/>
              </a:rPr>
              <a:t>vs</a:t>
            </a:r>
            <a:r>
              <a:rPr sz="2300" spc="-30" dirty="0">
                <a:latin typeface="Calibri"/>
                <a:cs typeface="Calibri"/>
              </a:rPr>
              <a:t> </a:t>
            </a:r>
            <a:r>
              <a:rPr sz="2300" spc="-10" dirty="0">
                <a:latin typeface="Calibri"/>
                <a:cs typeface="Calibri"/>
              </a:rPr>
              <a:t>Categorical</a:t>
            </a:r>
            <a:endParaRPr sz="2300">
              <a:latin typeface="Calibri"/>
              <a:cs typeface="Calibri"/>
            </a:endParaRPr>
          </a:p>
        </p:txBody>
      </p:sp>
      <p:sp>
        <p:nvSpPr>
          <p:cNvPr id="6" name="object 6"/>
          <p:cNvSpPr txBox="1"/>
          <p:nvPr/>
        </p:nvSpPr>
        <p:spPr>
          <a:xfrm>
            <a:off x="1265936" y="5080190"/>
            <a:ext cx="9836785" cy="1410643"/>
          </a:xfrm>
          <a:prstGeom prst="rect">
            <a:avLst/>
          </a:prstGeom>
        </p:spPr>
        <p:txBody>
          <a:bodyPr vert="horz" wrap="square" lIns="0" tIns="12700" rIns="0" bIns="0" rtlCol="0">
            <a:spAutoFit/>
          </a:bodyPr>
          <a:lstStyle/>
          <a:p>
            <a:pPr marL="285750" indent="-285750">
              <a:buFont typeface="Arial" panose="020B0604020202020204" pitchFamily="34" charset="0"/>
              <a:buChar char="•"/>
            </a:pPr>
            <a:r>
              <a:rPr lang="en-IN" dirty="0"/>
              <a:t>Top 10 Builders vs Property Type: Identifies the top 10 builders and compares the number of properties offered by each property type.</a:t>
            </a:r>
          </a:p>
          <a:p>
            <a:pPr marL="285750" indent="-285750">
              <a:buFont typeface="Arial" panose="020B0604020202020204" pitchFamily="34" charset="0"/>
              <a:buChar char="•"/>
            </a:pPr>
            <a:r>
              <a:rPr lang="en-IN" dirty="0"/>
              <a:t>Project Status vs Booking Status: Analyses the relationship between project completion status and booking availability to understand the booking distribution across projects.</a:t>
            </a:r>
          </a:p>
          <a:p>
            <a:pPr marL="355600" marR="267970" indent="-343535">
              <a:lnSpc>
                <a:spcPct val="100000"/>
              </a:lnSpc>
              <a:spcBef>
                <a:spcPts val="100"/>
              </a:spcBef>
              <a:buChar char="●"/>
              <a:tabLst>
                <a:tab pos="355600" algn="l"/>
              </a:tabLst>
            </a:pPr>
            <a:endParaRPr sz="1800" dirty="0">
              <a:latin typeface="Arial"/>
              <a:cs typeface="Arial"/>
            </a:endParaRPr>
          </a:p>
        </p:txBody>
      </p:sp>
      <p:pic>
        <p:nvPicPr>
          <p:cNvPr id="8" name="Picture 7">
            <a:extLst>
              <a:ext uri="{FF2B5EF4-FFF2-40B4-BE49-F238E27FC236}">
                <a16:creationId xmlns:a16="http://schemas.microsoft.com/office/drawing/2014/main" id="{375467CA-B714-5C3D-AD9E-3DC5BB4A1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828800"/>
            <a:ext cx="5669739" cy="2984436"/>
          </a:xfrm>
          <a:prstGeom prst="rect">
            <a:avLst/>
          </a:prstGeom>
        </p:spPr>
      </p:pic>
      <p:pic>
        <p:nvPicPr>
          <p:cNvPr id="10" name="Picture 9">
            <a:extLst>
              <a:ext uri="{FF2B5EF4-FFF2-40B4-BE49-F238E27FC236}">
                <a16:creationId xmlns:a16="http://schemas.microsoft.com/office/drawing/2014/main" id="{6BA68198-AC16-8041-7224-046E405F3A0E}"/>
              </a:ext>
            </a:extLst>
          </p:cNvPr>
          <p:cNvPicPr>
            <a:picLocks noChangeAspect="1"/>
          </p:cNvPicPr>
          <p:nvPr/>
        </p:nvPicPr>
        <p:blipFill>
          <a:blip r:embed="rId3"/>
          <a:stretch>
            <a:fillRect/>
          </a:stretch>
        </p:blipFill>
        <p:spPr>
          <a:xfrm>
            <a:off x="6110832" y="1239763"/>
            <a:ext cx="5394505" cy="33796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66661" rIns="0" bIns="0" rtlCol="0">
            <a:spAutoFit/>
          </a:bodyPr>
          <a:lstStyle/>
          <a:p>
            <a:pPr marL="38100">
              <a:lnSpc>
                <a:spcPct val="100000"/>
              </a:lnSpc>
              <a:spcBef>
                <a:spcPts val="110"/>
              </a:spcBef>
            </a:pPr>
            <a:r>
              <a:rPr sz="2800" b="0" dirty="0">
                <a:solidFill>
                  <a:srgbClr val="000000"/>
                </a:solidFill>
                <a:latin typeface="Arial"/>
                <a:cs typeface="Arial"/>
              </a:rPr>
              <a:t>Multivariate</a:t>
            </a:r>
            <a:r>
              <a:rPr sz="2800" b="0" spc="-100" dirty="0">
                <a:solidFill>
                  <a:srgbClr val="000000"/>
                </a:solidFill>
                <a:latin typeface="Arial"/>
                <a:cs typeface="Arial"/>
              </a:rPr>
              <a:t> </a:t>
            </a:r>
            <a:r>
              <a:rPr sz="2800" b="0" spc="-10" dirty="0">
                <a:solidFill>
                  <a:srgbClr val="000000"/>
                </a:solidFill>
                <a:latin typeface="Arial"/>
                <a:cs typeface="Arial"/>
              </a:rPr>
              <a:t>Analysis</a:t>
            </a:r>
            <a:endParaRPr sz="2800">
              <a:latin typeface="Arial"/>
              <a:cs typeface="Arial"/>
            </a:endParaRPr>
          </a:p>
        </p:txBody>
      </p:sp>
      <p:pic>
        <p:nvPicPr>
          <p:cNvPr id="8" name="Picture 7">
            <a:extLst>
              <a:ext uri="{FF2B5EF4-FFF2-40B4-BE49-F238E27FC236}">
                <a16:creationId xmlns:a16="http://schemas.microsoft.com/office/drawing/2014/main" id="{F1D62C40-23E8-6559-7F36-FD3E8808B0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692" y="1255395"/>
            <a:ext cx="9812731" cy="3621406"/>
          </a:xfrm>
          <a:prstGeom prst="rect">
            <a:avLst/>
          </a:prstGeom>
        </p:spPr>
      </p:pic>
      <p:sp>
        <p:nvSpPr>
          <p:cNvPr id="10" name="TextBox 9">
            <a:extLst>
              <a:ext uri="{FF2B5EF4-FFF2-40B4-BE49-F238E27FC236}">
                <a16:creationId xmlns:a16="http://schemas.microsoft.com/office/drawing/2014/main" id="{1F125612-94D5-C8FA-9F14-3BEA5AE6E0E0}"/>
              </a:ext>
            </a:extLst>
          </p:cNvPr>
          <p:cNvSpPr txBox="1"/>
          <p:nvPr/>
        </p:nvSpPr>
        <p:spPr>
          <a:xfrm>
            <a:off x="1143000" y="4953000"/>
            <a:ext cx="8991600" cy="1200329"/>
          </a:xfrm>
          <a:prstGeom prst="rect">
            <a:avLst/>
          </a:prstGeom>
          <a:noFill/>
        </p:spPr>
        <p:txBody>
          <a:bodyPr wrap="square">
            <a:spAutoFit/>
          </a:bodyPr>
          <a:lstStyle/>
          <a:p>
            <a:pPr marL="342900" lvl="0" indent="-342900">
              <a:buFont typeface="Arial" panose="020B0604020202020204" pitchFamily="34" charset="0"/>
              <a:buChar char="•"/>
            </a:pPr>
            <a:r>
              <a:rPr lang="en-IN" dirty="0"/>
              <a:t>Compares the distribution of property listings across the top 10 locations and top 10 builders.</a:t>
            </a:r>
          </a:p>
          <a:p>
            <a:pPr marL="342900" lvl="0" indent="-342900">
              <a:buFont typeface="Arial" panose="020B0604020202020204" pitchFamily="34" charset="0"/>
              <a:buChar char="•"/>
            </a:pPr>
            <a:r>
              <a:rPr lang="en-IN" dirty="0"/>
              <a:t>Highlights which builder–location combinations have the highest number of listings in the dataset.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6663" y="138379"/>
            <a:ext cx="8434069" cy="867467"/>
          </a:xfrm>
          <a:prstGeom prst="rect">
            <a:avLst/>
          </a:prstGeom>
        </p:spPr>
        <p:txBody>
          <a:bodyPr vert="horz" wrap="square" lIns="0" tIns="432358" rIns="0" bIns="0" rtlCol="0">
            <a:spAutoFit/>
          </a:bodyPr>
          <a:lstStyle/>
          <a:p>
            <a:pPr marL="38100">
              <a:lnSpc>
                <a:spcPct val="100000"/>
              </a:lnSpc>
              <a:spcBef>
                <a:spcPts val="110"/>
              </a:spcBef>
            </a:pPr>
            <a:r>
              <a:rPr sz="2800" dirty="0">
                <a:solidFill>
                  <a:srgbClr val="000000"/>
                </a:solidFill>
                <a:latin typeface="Arial"/>
                <a:cs typeface="Arial"/>
              </a:rPr>
              <a:t>Hypothesis</a:t>
            </a:r>
            <a:r>
              <a:rPr sz="2800" spc="-114" dirty="0">
                <a:solidFill>
                  <a:srgbClr val="000000"/>
                </a:solidFill>
                <a:latin typeface="Arial"/>
                <a:cs typeface="Arial"/>
              </a:rPr>
              <a:t> </a:t>
            </a:r>
            <a:r>
              <a:rPr sz="2800" spc="-10" dirty="0">
                <a:solidFill>
                  <a:srgbClr val="000000"/>
                </a:solidFill>
                <a:latin typeface="Arial"/>
                <a:cs typeface="Arial"/>
              </a:rPr>
              <a:t>Testing</a:t>
            </a:r>
            <a:endParaRPr sz="2800" dirty="0">
              <a:latin typeface="Arial"/>
              <a:cs typeface="Arial"/>
            </a:endParaRPr>
          </a:p>
        </p:txBody>
      </p:sp>
      <p:sp>
        <p:nvSpPr>
          <p:cNvPr id="3" name="object 3"/>
          <p:cNvSpPr txBox="1"/>
          <p:nvPr/>
        </p:nvSpPr>
        <p:spPr>
          <a:xfrm>
            <a:off x="762000" y="1249532"/>
            <a:ext cx="10416312" cy="5196294"/>
          </a:xfrm>
          <a:prstGeom prst="rect">
            <a:avLst/>
          </a:prstGeom>
        </p:spPr>
        <p:txBody>
          <a:bodyPr vert="horz" wrap="square" lIns="0" tIns="12700" rIns="0" bIns="0" rtlCol="0">
            <a:spAutoFit/>
          </a:bodyPr>
          <a:lstStyle/>
          <a:p>
            <a:pPr>
              <a:lnSpc>
                <a:spcPct val="150000"/>
              </a:lnSpc>
            </a:pPr>
            <a:r>
              <a:rPr lang="en-IN" sz="1600" b="1" dirty="0"/>
              <a:t>1. Does BHK Configuration Affect Property Pricing?</a:t>
            </a:r>
          </a:p>
          <a:p>
            <a:pPr lvl="0">
              <a:lnSpc>
                <a:spcPct val="150000"/>
              </a:lnSpc>
            </a:pPr>
            <a:r>
              <a:rPr lang="en-IN" sz="1600" b="1" dirty="0"/>
              <a:t>Null Hypothesis (H₀):</a:t>
            </a:r>
            <a:r>
              <a:rPr lang="en-IN" sz="1600" dirty="0"/>
              <a:t> BHK configuration has no significant difference in average property prices.</a:t>
            </a:r>
          </a:p>
          <a:p>
            <a:pPr lvl="0">
              <a:lnSpc>
                <a:spcPct val="150000"/>
              </a:lnSpc>
            </a:pPr>
            <a:r>
              <a:rPr lang="en-IN" sz="1600" b="1" dirty="0"/>
              <a:t>Alternative Hypothesis (H₁):</a:t>
            </a:r>
            <a:r>
              <a:rPr lang="en-IN" sz="1600" dirty="0"/>
              <a:t> At least one BHK configuration has a significantly different average price.</a:t>
            </a:r>
          </a:p>
          <a:p>
            <a:pPr lvl="0">
              <a:lnSpc>
                <a:spcPct val="150000"/>
              </a:lnSpc>
            </a:pPr>
            <a:r>
              <a:rPr lang="en-IN" sz="1600" b="1" dirty="0"/>
              <a:t>Variables:</a:t>
            </a:r>
            <a:r>
              <a:rPr lang="en-IN" sz="1600" dirty="0"/>
              <a:t> BHK (Categorical) vs Price (Numerical) — </a:t>
            </a:r>
            <a:r>
              <a:rPr lang="en-IN" sz="1600" b="1" dirty="0"/>
              <a:t>One-Way ANOVA Test</a:t>
            </a:r>
            <a:endParaRPr lang="en-IN" sz="1600" dirty="0"/>
          </a:p>
          <a:p>
            <a:pPr lvl="0">
              <a:lnSpc>
                <a:spcPct val="150000"/>
              </a:lnSpc>
            </a:pPr>
            <a:r>
              <a:rPr lang="en-IN" sz="1600" b="1" dirty="0"/>
              <a:t>Result:</a:t>
            </a:r>
            <a:r>
              <a:rPr lang="en-IN" sz="1600" dirty="0"/>
              <a:t> Reject H₀ if p-value &lt; 0.05.</a:t>
            </a:r>
          </a:p>
          <a:p>
            <a:pPr lvl="0">
              <a:lnSpc>
                <a:spcPct val="150000"/>
              </a:lnSpc>
            </a:pPr>
            <a:r>
              <a:rPr lang="en-IN" sz="1600" b="1" dirty="0"/>
              <a:t>Conclusion:</a:t>
            </a:r>
            <a:r>
              <a:rPr lang="en-IN" sz="1600" dirty="0"/>
              <a:t> If statistically significant, property prices differ across at least some BHK configurations.</a:t>
            </a:r>
          </a:p>
          <a:p>
            <a:pPr>
              <a:lnSpc>
                <a:spcPct val="150000"/>
              </a:lnSpc>
            </a:pPr>
            <a:r>
              <a:rPr lang="en-IN" sz="1600" b="1" dirty="0"/>
              <a:t>2. Does Property Area Relate to Property Pricing?</a:t>
            </a:r>
          </a:p>
          <a:p>
            <a:pPr lvl="0">
              <a:lnSpc>
                <a:spcPct val="150000"/>
              </a:lnSpc>
            </a:pPr>
            <a:r>
              <a:rPr lang="en-IN" sz="1600" b="1" dirty="0"/>
              <a:t>Null Hypothesis (H₀):</a:t>
            </a:r>
            <a:r>
              <a:rPr lang="en-IN" sz="1600" dirty="0"/>
              <a:t> Property area has no significant linear correlation with price.</a:t>
            </a:r>
          </a:p>
          <a:p>
            <a:pPr lvl="0">
              <a:lnSpc>
                <a:spcPct val="150000"/>
              </a:lnSpc>
            </a:pPr>
            <a:r>
              <a:rPr lang="en-IN" sz="1600" b="1" dirty="0"/>
              <a:t>Alternative Hypothesis (H₁):</a:t>
            </a:r>
            <a:r>
              <a:rPr lang="en-IN" sz="1600" dirty="0"/>
              <a:t> Property area has a significant linear correlation with price.</a:t>
            </a:r>
          </a:p>
          <a:p>
            <a:pPr lvl="0">
              <a:lnSpc>
                <a:spcPct val="150000"/>
              </a:lnSpc>
            </a:pPr>
            <a:r>
              <a:rPr lang="en-IN" sz="1600" b="1" dirty="0"/>
              <a:t>Variables:</a:t>
            </a:r>
            <a:r>
              <a:rPr lang="en-IN" sz="1600" dirty="0"/>
              <a:t> Area (Numerical) vs Price (Numerical) — </a:t>
            </a:r>
            <a:r>
              <a:rPr lang="en-IN" sz="1600" b="1" dirty="0"/>
              <a:t>Pearson Correlation Test</a:t>
            </a:r>
            <a:endParaRPr lang="en-IN" sz="1600" dirty="0"/>
          </a:p>
          <a:p>
            <a:pPr lvl="0">
              <a:lnSpc>
                <a:spcPct val="150000"/>
              </a:lnSpc>
            </a:pPr>
            <a:r>
              <a:rPr lang="en-IN" sz="1600" b="1" dirty="0"/>
              <a:t>Result:</a:t>
            </a:r>
            <a:r>
              <a:rPr lang="en-IN" sz="1600" dirty="0"/>
              <a:t> Reject H₀ if p-value &lt; 0.05.</a:t>
            </a:r>
          </a:p>
          <a:p>
            <a:pPr lvl="0">
              <a:lnSpc>
                <a:spcPct val="150000"/>
              </a:lnSpc>
            </a:pPr>
            <a:r>
              <a:rPr lang="en-IN" sz="1600" b="1" dirty="0"/>
              <a:t>Conclusion:</a:t>
            </a:r>
            <a:r>
              <a:rPr lang="en-IN" sz="1600" dirty="0"/>
              <a:t> If statistically significant, property area and price have a linear relationship. The correlation may be positive or negative.</a:t>
            </a:r>
          </a:p>
          <a:p>
            <a:pPr marL="12700">
              <a:lnSpc>
                <a:spcPct val="100000"/>
              </a:lnSpc>
              <a:spcBef>
                <a:spcPts val="100"/>
              </a:spcBef>
            </a:pPr>
            <a:endParaRPr sz="1800" dirty="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342823" rIns="0" bIns="0" rtlCol="0">
            <a:spAutoFit/>
          </a:bodyPr>
          <a:lstStyle/>
          <a:p>
            <a:pPr marL="194310">
              <a:lnSpc>
                <a:spcPct val="100000"/>
              </a:lnSpc>
              <a:spcBef>
                <a:spcPts val="105"/>
              </a:spcBef>
            </a:pPr>
            <a:r>
              <a:rPr spc="-240" dirty="0"/>
              <a:t>Business</a:t>
            </a:r>
            <a:r>
              <a:rPr spc="-160" dirty="0"/>
              <a:t> </a:t>
            </a:r>
            <a:r>
              <a:rPr spc="-315" dirty="0"/>
              <a:t>Insights</a:t>
            </a:r>
            <a:r>
              <a:rPr spc="-160" dirty="0"/>
              <a:t> </a:t>
            </a:r>
            <a:r>
              <a:rPr spc="-295" dirty="0"/>
              <a:t>and</a:t>
            </a:r>
            <a:r>
              <a:rPr spc="-130" dirty="0"/>
              <a:t> </a:t>
            </a:r>
            <a:r>
              <a:rPr spc="-280" dirty="0"/>
              <a:t>Recommendations</a:t>
            </a:r>
          </a:p>
        </p:txBody>
      </p:sp>
      <p:sp>
        <p:nvSpPr>
          <p:cNvPr id="2" name="object 2"/>
          <p:cNvSpPr txBox="1"/>
          <p:nvPr/>
        </p:nvSpPr>
        <p:spPr>
          <a:xfrm>
            <a:off x="838200" y="1255394"/>
            <a:ext cx="9677400" cy="5842625"/>
          </a:xfrm>
          <a:prstGeom prst="rect">
            <a:avLst/>
          </a:prstGeom>
        </p:spPr>
        <p:txBody>
          <a:bodyPr vert="horz" wrap="square" lIns="0" tIns="12700" rIns="0" bIns="0" rtlCol="0">
            <a:spAutoFit/>
          </a:bodyPr>
          <a:lstStyle/>
          <a:p>
            <a:pPr>
              <a:lnSpc>
                <a:spcPct val="150000"/>
              </a:lnSpc>
            </a:pPr>
            <a:r>
              <a:rPr lang="en-IN" sz="1600" b="1" dirty="0"/>
              <a:t>Business Insights</a:t>
            </a:r>
          </a:p>
          <a:p>
            <a:pPr marL="285750" lvl="0" indent="-285750">
              <a:lnSpc>
                <a:spcPct val="150000"/>
              </a:lnSpc>
              <a:buFont typeface="Arial" panose="020B0604020202020204" pitchFamily="34" charset="0"/>
              <a:buChar char="•"/>
            </a:pPr>
            <a:r>
              <a:rPr lang="en-IN" sz="1600" b="1" dirty="0"/>
              <a:t>Property Pricing:</a:t>
            </a:r>
            <a:r>
              <a:rPr lang="en-IN" sz="1600" dirty="0"/>
              <a:t> Property prices vary across BHK configurations, property types, and locations.</a:t>
            </a:r>
          </a:p>
          <a:p>
            <a:pPr marL="285750" lvl="0" indent="-285750">
              <a:lnSpc>
                <a:spcPct val="150000"/>
              </a:lnSpc>
              <a:buFont typeface="Arial" panose="020B0604020202020204" pitchFamily="34" charset="0"/>
              <a:buChar char="•"/>
            </a:pPr>
            <a:r>
              <a:rPr lang="en-IN" sz="1600" b="1" dirty="0"/>
              <a:t>Popular Projects:</a:t>
            </a:r>
            <a:r>
              <a:rPr lang="en-IN" sz="1600" dirty="0"/>
              <a:t> Identified the top 10 projects and builders based on listing counts.</a:t>
            </a:r>
          </a:p>
          <a:p>
            <a:pPr marL="285750" lvl="0" indent="-285750">
              <a:lnSpc>
                <a:spcPct val="150000"/>
              </a:lnSpc>
              <a:buFont typeface="Arial" panose="020B0604020202020204" pitchFamily="34" charset="0"/>
              <a:buChar char="•"/>
            </a:pPr>
            <a:r>
              <a:rPr lang="en-IN" sz="1600" b="1" dirty="0"/>
              <a:t>Location Analysis:</a:t>
            </a:r>
            <a:r>
              <a:rPr lang="en-IN" sz="1600" dirty="0"/>
              <a:t> Compared property listings across Hyderabad localities to understand their distribution.</a:t>
            </a:r>
          </a:p>
          <a:p>
            <a:pPr marL="285750" lvl="0" indent="-285750">
              <a:lnSpc>
                <a:spcPct val="150000"/>
              </a:lnSpc>
              <a:buFont typeface="Arial" panose="020B0604020202020204" pitchFamily="34" charset="0"/>
              <a:buChar char="•"/>
            </a:pPr>
            <a:r>
              <a:rPr lang="en-IN" sz="1600" b="1" dirty="0"/>
              <a:t>Property Size:</a:t>
            </a:r>
            <a:r>
              <a:rPr lang="en-IN" sz="1600" dirty="0"/>
              <a:t> Analyzed the relationship between property area and price.</a:t>
            </a:r>
          </a:p>
          <a:p>
            <a:pPr marL="285750" lvl="0" indent="-285750">
              <a:lnSpc>
                <a:spcPct val="150000"/>
              </a:lnSpc>
              <a:buFont typeface="Arial" panose="020B0604020202020204" pitchFamily="34" charset="0"/>
              <a:buChar char="•"/>
            </a:pPr>
            <a:r>
              <a:rPr lang="en-IN" sz="1600" b="1" dirty="0"/>
              <a:t>Booking Status:</a:t>
            </a:r>
            <a:r>
              <a:rPr lang="en-IN" sz="1600" dirty="0"/>
              <a:t> Compared project status with booking status to understand listing availability.</a:t>
            </a:r>
          </a:p>
          <a:p>
            <a:pPr>
              <a:lnSpc>
                <a:spcPct val="150000"/>
              </a:lnSpc>
            </a:pPr>
            <a:r>
              <a:rPr lang="en-IN" sz="1600" b="1" dirty="0"/>
              <a:t> Recommendations</a:t>
            </a:r>
          </a:p>
          <a:p>
            <a:pPr marL="285750" lvl="0" indent="-285750">
              <a:lnSpc>
                <a:spcPct val="150000"/>
              </a:lnSpc>
              <a:buFont typeface="Arial" panose="020B0604020202020204" pitchFamily="34" charset="0"/>
              <a:buChar char="•"/>
            </a:pPr>
            <a:r>
              <a:rPr lang="en-IN" sz="1600" b="1" dirty="0"/>
              <a:t>For Buyers:</a:t>
            </a:r>
            <a:r>
              <a:rPr lang="en-IN" sz="1600" dirty="0"/>
              <a:t> Compare prices, BHK configurations, and property sizes before selecting a property.</a:t>
            </a:r>
          </a:p>
          <a:p>
            <a:pPr marL="285750" lvl="0" indent="-285750">
              <a:lnSpc>
                <a:spcPct val="150000"/>
              </a:lnSpc>
              <a:buFont typeface="Arial" panose="020B0604020202020204" pitchFamily="34" charset="0"/>
              <a:buChar char="•"/>
            </a:pPr>
            <a:r>
              <a:rPr lang="en-IN" sz="1600" b="1" dirty="0"/>
              <a:t>For Investors:</a:t>
            </a:r>
            <a:r>
              <a:rPr lang="en-IN" sz="1600" dirty="0"/>
              <a:t> Explore locations and projects with promising features and suitable price ranges.</a:t>
            </a:r>
          </a:p>
          <a:p>
            <a:pPr marL="285750" lvl="0" indent="-285750">
              <a:lnSpc>
                <a:spcPct val="150000"/>
              </a:lnSpc>
              <a:buFont typeface="Arial" panose="020B0604020202020204" pitchFamily="34" charset="0"/>
              <a:buChar char="•"/>
            </a:pPr>
            <a:r>
              <a:rPr lang="en-IN" sz="1600" b="1" dirty="0"/>
              <a:t>For Builders:</a:t>
            </a:r>
            <a:r>
              <a:rPr lang="en-IN" sz="1600" dirty="0"/>
              <a:t> Analyze listing distribution across locations and property types to identify potential market opportunities.</a:t>
            </a:r>
          </a:p>
          <a:p>
            <a:pPr marL="285750" lvl="0" indent="-285750">
              <a:lnSpc>
                <a:spcPct val="150000"/>
              </a:lnSpc>
              <a:buFont typeface="Arial" panose="020B0604020202020204" pitchFamily="34" charset="0"/>
              <a:buChar char="•"/>
            </a:pPr>
            <a:r>
              <a:rPr lang="en-IN" sz="1600" b="1" dirty="0"/>
              <a:t>For Budget Planning:</a:t>
            </a:r>
            <a:r>
              <a:rPr lang="en-IN" sz="1600" dirty="0"/>
              <a:t> Use price categories to shortlist properties within a preferred budget.</a:t>
            </a:r>
          </a:p>
          <a:p>
            <a:pPr marL="285750" lvl="0" indent="-285750">
              <a:lnSpc>
                <a:spcPct val="150000"/>
              </a:lnSpc>
              <a:buFont typeface="Arial" panose="020B0604020202020204" pitchFamily="34" charset="0"/>
              <a:buChar char="•"/>
            </a:pPr>
            <a:r>
              <a:rPr lang="en-IN" sz="1600" b="1" dirty="0"/>
              <a:t>For Verification:</a:t>
            </a:r>
            <a:r>
              <a:rPr lang="en-IN" sz="1600" dirty="0"/>
              <a:t> Check RERA registration details, project completion dates, and booking availability before making a purchase.</a:t>
            </a:r>
          </a:p>
          <a:p>
            <a:pPr marL="12700">
              <a:lnSpc>
                <a:spcPct val="100000"/>
              </a:lnSpc>
              <a:spcBef>
                <a:spcPts val="100"/>
              </a:spcBef>
            </a:pPr>
            <a:endParaRPr sz="1800" dirty="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555040" rIns="0" bIns="0" rtlCol="0">
            <a:spAutoFit/>
          </a:bodyPr>
          <a:lstStyle/>
          <a:p>
            <a:pPr marL="579755">
              <a:lnSpc>
                <a:spcPct val="100000"/>
              </a:lnSpc>
              <a:spcBef>
                <a:spcPts val="105"/>
              </a:spcBef>
            </a:pPr>
            <a:r>
              <a:rPr spc="-200" dirty="0"/>
              <a:t>Conclusion</a:t>
            </a:r>
          </a:p>
        </p:txBody>
      </p:sp>
      <p:sp>
        <p:nvSpPr>
          <p:cNvPr id="2" name="object 2"/>
          <p:cNvSpPr txBox="1">
            <a:spLocks noGrp="1"/>
          </p:cNvSpPr>
          <p:nvPr>
            <p:ph type="body" idx="1"/>
          </p:nvPr>
        </p:nvSpPr>
        <p:spPr>
          <a:xfrm>
            <a:off x="1600200" y="1981200"/>
            <a:ext cx="8763000" cy="3906839"/>
          </a:xfrm>
          <a:prstGeom prst="rect">
            <a:avLst/>
          </a:prstGeom>
        </p:spPr>
        <p:txBody>
          <a:bodyPr vert="horz" wrap="square" lIns="0" tIns="150495" rIns="0" bIns="0" rtlCol="0">
            <a:spAutoFit/>
          </a:bodyPr>
          <a:lstStyle/>
          <a:p>
            <a:pPr marL="285750" lvl="0" indent="-285750">
              <a:lnSpc>
                <a:spcPct val="150000"/>
              </a:lnSpc>
              <a:buFont typeface="Arial" panose="020B0604020202020204" pitchFamily="34" charset="0"/>
              <a:buChar char="•"/>
            </a:pPr>
            <a:r>
              <a:rPr lang="en-IN" dirty="0"/>
              <a:t>Successfully collected and analysed  residential property listings from 99acres for Hyderabad.</a:t>
            </a:r>
          </a:p>
          <a:p>
            <a:pPr marL="285750" lvl="0" indent="-285750">
              <a:lnSpc>
                <a:spcPct val="150000"/>
              </a:lnSpc>
              <a:buFont typeface="Arial" panose="020B0604020202020204" pitchFamily="34" charset="0"/>
              <a:buChar char="•"/>
            </a:pPr>
            <a:r>
              <a:rPr lang="en-IN" dirty="0"/>
              <a:t>Explored property price trends, BHK configurations, property types, locations, and builders using Python and EDA.</a:t>
            </a:r>
          </a:p>
          <a:p>
            <a:pPr marL="285750" lvl="0" indent="-285750">
              <a:lnSpc>
                <a:spcPct val="150000"/>
              </a:lnSpc>
              <a:buFont typeface="Arial" panose="020B0604020202020204" pitchFamily="34" charset="0"/>
              <a:buChar char="•"/>
            </a:pPr>
            <a:r>
              <a:rPr lang="en-IN" dirty="0"/>
              <a:t>Used visualizations and statistical tests to investigate relationships between property area, BHK configuration, and pricing.</a:t>
            </a:r>
          </a:p>
          <a:p>
            <a:pPr marL="285750" lvl="0" indent="-285750">
              <a:lnSpc>
                <a:spcPct val="150000"/>
              </a:lnSpc>
              <a:buFont typeface="Arial" panose="020B0604020202020204" pitchFamily="34" charset="0"/>
              <a:buChar char="•"/>
            </a:pPr>
            <a:r>
              <a:rPr lang="en-IN" dirty="0"/>
              <a:t>Derived business insights to help buyers compare properties and support informed real estate investment decisions.</a:t>
            </a:r>
          </a:p>
          <a:p>
            <a:pPr marL="355600" indent="-342900">
              <a:lnSpc>
                <a:spcPct val="100000"/>
              </a:lnSpc>
              <a:spcBef>
                <a:spcPts val="1185"/>
              </a:spcBef>
              <a:buFont typeface="Arial"/>
              <a:buChar char="●"/>
              <a:tabLst>
                <a:tab pos="355600" algn="l"/>
              </a:tabLst>
            </a:pPr>
            <a:endParaRPr spc="-1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327938" y="1719452"/>
            <a:ext cx="7831045" cy="3009138"/>
          </a:xfrm>
          <a:prstGeom prst="rect">
            <a:avLst/>
          </a:prstGeom>
        </p:spPr>
      </p:pic>
      <p:pic>
        <p:nvPicPr>
          <p:cNvPr id="2" name="object 2"/>
          <p:cNvPicPr/>
          <p:nvPr/>
        </p:nvPicPr>
        <p:blipFill>
          <a:blip r:embed="rId3" cstate="print"/>
          <a:stretch>
            <a:fillRect/>
          </a:stretch>
        </p:blipFill>
        <p:spPr>
          <a:xfrm>
            <a:off x="9474875" y="6256060"/>
            <a:ext cx="2714076" cy="5121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1168" y="164617"/>
            <a:ext cx="11777472" cy="65487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261</TotalTime>
  <Words>1317</Words>
  <Application>Microsoft Office PowerPoint</Application>
  <PresentationFormat>Widescreen</PresentationFormat>
  <Paragraphs>159</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Courier New</vt:lpstr>
      <vt:lpstr>Tahoma</vt:lpstr>
      <vt:lpstr>Wingdings</vt:lpstr>
      <vt:lpstr>Office Theme</vt:lpstr>
      <vt:lpstr>Real Estate Market Analysis</vt:lpstr>
      <vt:lpstr>Agenda</vt:lpstr>
      <vt:lpstr>Business Problem</vt:lpstr>
      <vt:lpstr>Problem Statement</vt:lpstr>
      <vt:lpstr>Project Objective</vt:lpstr>
      <vt:lpstr>Project Flow</vt:lpstr>
      <vt:lpstr>Dataset Overview</vt:lpstr>
      <vt:lpstr>Project Steps and Screenshots</vt:lpstr>
      <vt:lpstr>Feature Engineering</vt:lpstr>
      <vt:lpstr>Univariate Analysis</vt:lpstr>
      <vt:lpstr>Univariate Analysis</vt:lpstr>
      <vt:lpstr>Bivariate Analysis</vt:lpstr>
      <vt:lpstr>Bivariate Analysis</vt:lpstr>
      <vt:lpstr>Bivariate Analysis</vt:lpstr>
      <vt:lpstr>Multivariate Analysis</vt:lpstr>
      <vt:lpstr>Hypothesis Testing</vt:lpstr>
      <vt:lpstr>Business Insights and Recommendations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Srivani Pittala</dc:creator>
  <cp:lastModifiedBy>Srivani Pittala</cp:lastModifiedBy>
  <cp:revision>5</cp:revision>
  <dcterms:created xsi:type="dcterms:W3CDTF">2026-10-10T17:34:58Z</dcterms:created>
  <dcterms:modified xsi:type="dcterms:W3CDTF">2026-10-13T04:52:44Z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2026-10-10T00:00:00Z</vt:filetime>
  </property>
  <property fmtid="{D5CDD505-2E9C-101B-9397-08002B2CF9AE}" pid="4" name="LastSaved">
    <vt:filetime>2026-10-10T00:00:00Z</vt:filetime>
  </property>
</Properties>
</file>